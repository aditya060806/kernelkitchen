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1"/>
  </p:notesMasterIdLst>
  <p:sldIdLst>
    <p:sldId id="256" r:id="rId2"/>
    <p:sldId id="264" r:id="rId3"/>
    <p:sldId id="265" r:id="rId4"/>
    <p:sldId id="258" r:id="rId5"/>
    <p:sldId id="266" r:id="rId6"/>
    <p:sldId id="259" r:id="rId7"/>
    <p:sldId id="267" r:id="rId8"/>
    <p:sldId id="260" r:id="rId9"/>
    <p:sldId id="263" r:id="rId10"/>
  </p:sldIdLst>
  <p:sldSz cx="12192000" cy="6858000"/>
  <p:notesSz cx="12192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7D0000"/>
    <a:srgbClr val="FF5200"/>
    <a:srgbClr val="61C5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850" y="62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52832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6905625" y="0"/>
            <a:ext cx="52832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C805F71-9351-432A-B963-E1C75CF7185B}" type="datetimeFigureOut">
              <a:rPr lang="en-IN" smtClean="0"/>
              <a:t>24-03-2026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038600" y="857250"/>
            <a:ext cx="4114800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13513"/>
            <a:ext cx="52832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6905625" y="6513513"/>
            <a:ext cx="52832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EE75A4E-8B8C-4CCD-9C1E-D2FD1F97B2F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5320442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EE75A4E-8B8C-4CCD-9C1E-D2FD1F97B2F8}" type="slidenum">
              <a:rPr lang="en-IN" smtClean="0"/>
              <a:t>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8340913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4400" y="2125980"/>
            <a:ext cx="103632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600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200" b="1" i="0" u="heavy">
                <a:solidFill>
                  <a:srgbClr val="FF5200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3/24/2026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200" b="1" i="0" u="heavy">
                <a:solidFill>
                  <a:srgbClr val="FF5200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3/24/2026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3/24/2026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3/24/2026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3/24/2026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470657" y="69672"/>
            <a:ext cx="8075168" cy="74307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600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829233" y="1061491"/>
            <a:ext cx="10316845" cy="441896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200" b="1" i="0" u="heavy">
                <a:solidFill>
                  <a:srgbClr val="FF5200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3/24/2026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image" Target="../media/image10.png"/><Relationship Id="rId7" Type="http://schemas.openxmlformats.org/officeDocument/2006/relationships/image" Target="../media/image1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9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246F9B0-CA77-378B-5C15-8BAF2062E51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800600" y="0"/>
            <a:ext cx="2781300" cy="50526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3200" u="sng" spc="-10" dirty="0">
                <a:solidFill>
                  <a:schemeClr val="tx2">
                    <a:lumMod val="75000"/>
                  </a:schemeClr>
                </a:solidFill>
                <a:uFill>
                  <a:solidFill>
                    <a:srgbClr val="000000"/>
                  </a:solidFill>
                </a:uFill>
              </a:rPr>
              <a:t>Kernel Kitchen</a:t>
            </a:r>
            <a:endParaRPr sz="3200" u="sng" spc="-10" dirty="0">
              <a:solidFill>
                <a:schemeClr val="tx2">
                  <a:lumMod val="75000"/>
                </a:schemeClr>
              </a:solidFill>
              <a:uFill>
                <a:solidFill>
                  <a:srgbClr val="000000"/>
                </a:solidFill>
              </a:uFill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228600" y="1906598"/>
            <a:ext cx="7086600" cy="4450642"/>
          </a:xfrm>
          <a:prstGeom prst="rect">
            <a:avLst/>
          </a:prstGeom>
        </p:spPr>
        <p:txBody>
          <a:bodyPr vert="horz" wrap="square" lIns="0" tIns="12065" rIns="0" bIns="0" rtlCol="0" anchor="t">
            <a:spAutoFit/>
          </a:bodyPr>
          <a:lstStyle/>
          <a:p>
            <a:pPr marL="21590">
              <a:lnSpc>
                <a:spcPct val="100000"/>
              </a:lnSpc>
              <a:spcBef>
                <a:spcPts val="95"/>
              </a:spcBef>
            </a:pPr>
            <a:r>
              <a:rPr lang="en-US" sz="2400" b="1" u="sng" spc="-10" dirty="0">
                <a:solidFill>
                  <a:schemeClr val="tx2">
                    <a:lumMod val="75000"/>
                  </a:schemeClr>
                </a:solidFill>
                <a:uFill>
                  <a:solidFill>
                    <a:srgbClr val="000000"/>
                  </a:solidFill>
                </a:uFill>
              </a:rPr>
              <a:t>How it addresses the problem</a:t>
            </a:r>
            <a:r>
              <a:rPr lang="en-US" sz="2400" b="1" spc="-10" dirty="0">
                <a:solidFill>
                  <a:schemeClr val="tx1"/>
                </a:solidFill>
                <a:uFill>
                  <a:solidFill>
                    <a:srgbClr val="FF5200"/>
                  </a:solidFill>
                </a:uFill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  <a:endParaRPr lang="en-US" sz="24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18745" indent="-106680">
              <a:buSzPct val="95454"/>
              <a:buFontTx/>
              <a:buChar char="•"/>
              <a:tabLst>
                <a:tab pos="118745" algn="l"/>
              </a:tabLst>
            </a:pPr>
            <a:r>
              <a:rPr lang="en-US" sz="2000" dirty="0"/>
              <a:t>Demonstrates how distributed systems manage real-time requests</a:t>
            </a:r>
            <a:endParaRPr lang="en-US" sz="2000" dirty="0">
              <a:latin typeface="Arial"/>
              <a:cs typeface="Arial"/>
            </a:endParaRPr>
          </a:p>
          <a:p>
            <a:pPr marL="118745" indent="-106680">
              <a:lnSpc>
                <a:spcPct val="100000"/>
              </a:lnSpc>
              <a:buSzPct val="95454"/>
              <a:buChar char="•"/>
              <a:tabLst>
                <a:tab pos="118745" algn="l"/>
              </a:tabLst>
            </a:pPr>
            <a:r>
              <a:rPr lang="en-US" sz="2000" dirty="0">
                <a:latin typeface="Arial"/>
                <a:cs typeface="Arial"/>
              </a:rPr>
              <a:t>Provides a visual representation of scheduling.</a:t>
            </a:r>
          </a:p>
          <a:p>
            <a:pPr marL="118745" indent="-106680">
              <a:lnSpc>
                <a:spcPct val="100000"/>
              </a:lnSpc>
              <a:buSzPct val="95454"/>
              <a:buChar char="•"/>
              <a:tabLst>
                <a:tab pos="118745" algn="l"/>
              </a:tabLst>
            </a:pPr>
            <a:r>
              <a:rPr lang="en-US" sz="2000" dirty="0"/>
              <a:t>Simulates real-world server communication and latency handling.</a:t>
            </a:r>
            <a:endParaRPr lang="en-IN" sz="2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1590">
              <a:lnSpc>
                <a:spcPts val="2575"/>
              </a:lnSpc>
            </a:pPr>
            <a:r>
              <a:rPr lang="en-IN" sz="2400" b="1" u="sng" dirty="0">
                <a:solidFill>
                  <a:schemeClr val="tx2">
                    <a:lumMod val="75000"/>
                  </a:schemeClr>
                </a:solidFill>
              </a:rPr>
              <a:t>Innovation &amp; </a:t>
            </a:r>
            <a:r>
              <a:rPr lang="en-IN" sz="2400" b="1" u="sng" dirty="0">
                <a:solidFill>
                  <a:schemeClr val="tx2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Uniqueness</a:t>
            </a:r>
            <a:r>
              <a:rPr lang="en-IN" sz="2400" b="1" u="sng" dirty="0">
                <a:solidFill>
                  <a:schemeClr val="tx2">
                    <a:lumMod val="75000"/>
                  </a:schemeClr>
                </a:solidFill>
              </a:rPr>
              <a:t> </a:t>
            </a:r>
            <a:r>
              <a:rPr sz="2200" b="1" spc="-10" dirty="0">
                <a:solidFill>
                  <a:schemeClr val="tx1"/>
                </a:solidFill>
                <a:uFill>
                  <a:solidFill>
                    <a:srgbClr val="FF5200"/>
                  </a:solidFill>
                </a:uFill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  <a:endParaRPr sz="22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1590" marR="25400" indent="-10160">
              <a:lnSpc>
                <a:spcPts val="2890"/>
              </a:lnSpc>
              <a:spcBef>
                <a:spcPts val="5"/>
              </a:spcBef>
              <a:buSzPct val="87500"/>
              <a:buFont typeface="Arial"/>
              <a:buChar char="•"/>
              <a:tabLst>
                <a:tab pos="21590" algn="l"/>
                <a:tab pos="118110" algn="l"/>
              </a:tabLst>
            </a:pPr>
            <a:r>
              <a:rPr sz="2000" dirty="0">
                <a:latin typeface="Arial" panose="020B0604020202020204" pitchFamily="34" charset="0"/>
                <a:cs typeface="Arial" panose="020B0604020202020204" pitchFamily="34" charset="0"/>
              </a:rPr>
              <a:t>	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SE</a:t>
            </a:r>
            <a:r>
              <a:rPr lang="en-US" sz="2000" dirty="0"/>
              <a:t> concepts visualized through a real-world application scenario.</a:t>
            </a:r>
          </a:p>
          <a:p>
            <a:pPr marL="21590" marR="25400" indent="-10160">
              <a:lnSpc>
                <a:spcPts val="2890"/>
              </a:lnSpc>
              <a:spcBef>
                <a:spcPts val="5"/>
              </a:spcBef>
              <a:buSzPct val="87500"/>
              <a:buFont typeface="Arial"/>
              <a:buChar char="•"/>
              <a:tabLst>
                <a:tab pos="21590" algn="l"/>
                <a:tab pos="118110" algn="l"/>
              </a:tabLst>
            </a:pPr>
            <a:r>
              <a:rPr lang="en-US" sz="2000" dirty="0"/>
              <a:t> Live monitoring dashboard for queue and thread lifecycle.</a:t>
            </a:r>
          </a:p>
          <a:p>
            <a:pPr marL="21590" marR="25400" indent="-10160">
              <a:lnSpc>
                <a:spcPts val="2890"/>
              </a:lnSpc>
              <a:spcBef>
                <a:spcPts val="5"/>
              </a:spcBef>
              <a:buSzPct val="87500"/>
              <a:buFont typeface="Arial"/>
              <a:buChar char="•"/>
              <a:tabLst>
                <a:tab pos="21590" algn="l"/>
                <a:tab pos="118110" algn="l"/>
              </a:tabLst>
            </a:pPr>
            <a:r>
              <a:rPr lang="en-US" sz="2000" dirty="0"/>
              <a:t>Hybrid architecture combining simulation engine + API gateway.</a:t>
            </a:r>
          </a:p>
          <a:p>
            <a:pPr marL="21590" marR="25400" indent="-10160">
              <a:lnSpc>
                <a:spcPts val="2890"/>
              </a:lnSpc>
              <a:spcBef>
                <a:spcPts val="5"/>
              </a:spcBef>
              <a:buSzPct val="87500"/>
              <a:buFont typeface="Arial"/>
              <a:buChar char="•"/>
              <a:tabLst>
                <a:tab pos="21590" algn="l"/>
                <a:tab pos="118110" algn="l"/>
              </a:tabLst>
            </a:pPr>
            <a:r>
              <a:rPr lang="en-US" sz="2000" dirty="0"/>
              <a:t>Offline-first + multilingual support for coastal communities</a:t>
            </a:r>
            <a:r>
              <a:rPr lang="en-US" sz="2000" b="1" dirty="0"/>
              <a:t>.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AB46A821-146C-B765-D6ED-711F29B8CFA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0" y="2082830"/>
            <a:ext cx="5105400" cy="2692340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54EDB6A5-84B8-2602-853B-140F51E52ACC}"/>
              </a:ext>
            </a:extLst>
          </p:cNvPr>
          <p:cNvSpPr txBox="1"/>
          <p:nvPr/>
        </p:nvSpPr>
        <p:spPr>
          <a:xfrm>
            <a:off x="138266" y="513435"/>
            <a:ext cx="10148734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1590">
              <a:lnSpc>
                <a:spcPct val="100000"/>
              </a:lnSpc>
              <a:spcBef>
                <a:spcPts val="95"/>
              </a:spcBef>
            </a:pPr>
            <a:r>
              <a:rPr lang="en-US" sz="2400" b="1" u="sng" spc="-10" dirty="0">
                <a:solidFill>
                  <a:schemeClr val="tx2">
                    <a:lumMod val="75000"/>
                  </a:schemeClr>
                </a:solidFill>
                <a:uFill>
                  <a:solidFill>
                    <a:srgbClr val="000000"/>
                  </a:solidFill>
                </a:uFill>
              </a:rPr>
              <a:t>Idea / Prototype</a:t>
            </a:r>
            <a:r>
              <a:rPr lang="en-US" sz="2400" b="1" spc="-10" dirty="0">
                <a:solidFill>
                  <a:schemeClr val="tx1"/>
                </a:solidFill>
                <a:uFill>
                  <a:solidFill>
                    <a:srgbClr val="FF5200"/>
                  </a:solidFill>
                </a:uFill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  <a:endParaRPr lang="en-US" sz="24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18745" indent="-106680">
              <a:buSzPct val="95454"/>
              <a:buFontTx/>
              <a:buChar char="•"/>
              <a:tabLst>
                <a:tab pos="118745" algn="l"/>
              </a:tabLst>
            </a:pPr>
            <a:r>
              <a:rPr lang="en-US" sz="2000" dirty="0"/>
              <a:t>Real-time food delivery workflow simulation platform.</a:t>
            </a:r>
            <a:r>
              <a:rPr lang="en-US" sz="2000" spc="-10" dirty="0">
                <a:latin typeface="Arial"/>
                <a:cs typeface="Arial"/>
              </a:rPr>
              <a:t>.</a:t>
            </a:r>
            <a:endParaRPr lang="en-US" sz="2000" dirty="0">
              <a:latin typeface="Arial"/>
              <a:cs typeface="Arial"/>
            </a:endParaRPr>
          </a:p>
          <a:p>
            <a:pPr marL="118745" indent="-106680">
              <a:buSzPct val="95454"/>
              <a:buFontTx/>
              <a:buChar char="•"/>
              <a:tabLst>
                <a:tab pos="118745" algn="l"/>
              </a:tabLst>
            </a:pPr>
            <a:r>
              <a:rPr lang="en-US" sz="2000" dirty="0"/>
              <a:t>Users place orders and track status transitions (Confirmed → Preparing → Delivered).</a:t>
            </a:r>
            <a:endParaRPr lang="en-US" sz="2000" spc="-10" dirty="0">
              <a:latin typeface="Arial"/>
              <a:cs typeface="Arial"/>
            </a:endParaRPr>
          </a:p>
          <a:p>
            <a:pPr marL="118745" indent="-106680">
              <a:buSzPct val="95454"/>
              <a:buFontTx/>
              <a:buChar char="•"/>
              <a:tabLst>
                <a:tab pos="118745" algn="l"/>
              </a:tabLst>
            </a:pPr>
            <a:r>
              <a:rPr lang="en-US" sz="2000" dirty="0"/>
              <a:t>Real-time synchronization across services using message passing.</a:t>
            </a:r>
            <a:endParaRPr lang="en-US" sz="2400" b="1" u="heavy" dirty="0">
              <a:solidFill>
                <a:srgbClr val="FF5200"/>
              </a:solidFill>
              <a:uFill>
                <a:solidFill>
                  <a:srgbClr val="FF5200"/>
                </a:solidFill>
              </a:u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C49A804B-34B2-0FFE-2B19-13C285C74D8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2458"/>
            <a:ext cx="12192000" cy="68604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316579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object 19"/>
          <p:cNvSpPr txBox="1"/>
          <p:nvPr/>
        </p:nvSpPr>
        <p:spPr>
          <a:xfrm>
            <a:off x="670577" y="670012"/>
            <a:ext cx="5066701" cy="1906442"/>
          </a:xfrm>
          <a:prstGeom prst="rect">
            <a:avLst/>
          </a:prstGeom>
        </p:spPr>
        <p:txBody>
          <a:bodyPr vert="horz" wrap="square" lIns="0" tIns="8467" rIns="0" bIns="0" rtlCol="0">
            <a:spAutoFit/>
          </a:bodyPr>
          <a:lstStyle/>
          <a:p>
            <a:pPr marL="22438" marR="296771">
              <a:lnSpc>
                <a:spcPct val="114599"/>
              </a:lnSpc>
              <a:spcBef>
                <a:spcPts val="67"/>
              </a:spcBef>
              <a:tabLst>
                <a:tab pos="197707" algn="l"/>
              </a:tabLst>
            </a:pPr>
            <a:r>
              <a:rPr lang="en-IN" b="1" u="sng" spc="-13" dirty="0">
                <a:solidFill>
                  <a:schemeClr val="tx2">
                    <a:lumMod val="75000"/>
                  </a:schemeClr>
                </a:solidFill>
                <a:latin typeface="Georgia"/>
                <a:cs typeface="Georgia"/>
              </a:rPr>
              <a:t>i)Frontend</a:t>
            </a:r>
            <a:r>
              <a:rPr spc="-13" dirty="0">
                <a:latin typeface="Georgia"/>
                <a:cs typeface="Georgia"/>
              </a:rPr>
              <a:t>:</a:t>
            </a:r>
            <a:r>
              <a:rPr spc="-67" dirty="0">
                <a:latin typeface="Georgia"/>
                <a:cs typeface="Georgia"/>
              </a:rPr>
              <a:t> </a:t>
            </a:r>
            <a:r>
              <a:rPr spc="-7" dirty="0">
                <a:latin typeface="Georgia"/>
                <a:cs typeface="Georgia"/>
              </a:rPr>
              <a:t>React.js,</a:t>
            </a:r>
            <a:r>
              <a:rPr spc="-63" dirty="0">
                <a:latin typeface="Georgia"/>
                <a:cs typeface="Georgia"/>
              </a:rPr>
              <a:t> </a:t>
            </a:r>
            <a:r>
              <a:rPr spc="-7" dirty="0">
                <a:latin typeface="Georgia"/>
                <a:cs typeface="Georgia"/>
              </a:rPr>
              <a:t>Tailwind</a:t>
            </a:r>
            <a:r>
              <a:rPr spc="-63" dirty="0">
                <a:latin typeface="Georgia"/>
                <a:cs typeface="Georgia"/>
              </a:rPr>
              <a:t> </a:t>
            </a:r>
            <a:r>
              <a:rPr dirty="0">
                <a:latin typeface="Georgia"/>
                <a:cs typeface="Georgia"/>
              </a:rPr>
              <a:t>CSS,</a:t>
            </a:r>
            <a:r>
              <a:rPr spc="-63" dirty="0">
                <a:latin typeface="Georgia"/>
                <a:cs typeface="Georgia"/>
              </a:rPr>
              <a:t> </a:t>
            </a:r>
            <a:r>
              <a:rPr spc="-7" dirty="0">
                <a:latin typeface="Georgia"/>
                <a:cs typeface="Georgia"/>
              </a:rPr>
              <a:t>WebRTC</a:t>
            </a:r>
            <a:r>
              <a:rPr lang="en-US" spc="-7" dirty="0">
                <a:latin typeface="Georgia"/>
                <a:cs typeface="Georgia"/>
              </a:rPr>
              <a:t>.</a:t>
            </a:r>
          </a:p>
          <a:p>
            <a:pPr marL="22438" marR="296771">
              <a:lnSpc>
                <a:spcPct val="114599"/>
              </a:lnSpc>
              <a:spcBef>
                <a:spcPts val="67"/>
              </a:spcBef>
              <a:tabLst>
                <a:tab pos="197707" algn="l"/>
              </a:tabLst>
            </a:pPr>
            <a:r>
              <a:rPr lang="en-US" b="1" u="sng" spc="-7" dirty="0">
                <a:solidFill>
                  <a:schemeClr val="tx2">
                    <a:lumMod val="75000"/>
                  </a:schemeClr>
                </a:solidFill>
                <a:latin typeface="Georgia"/>
                <a:cs typeface="Georgia"/>
              </a:rPr>
              <a:t>ii)</a:t>
            </a:r>
            <a:r>
              <a:rPr b="1" u="sng" spc="-7" dirty="0">
                <a:solidFill>
                  <a:schemeClr val="tx2">
                    <a:lumMod val="75000"/>
                  </a:schemeClr>
                </a:solidFill>
                <a:latin typeface="Georgia"/>
                <a:cs typeface="Georgia"/>
              </a:rPr>
              <a:t>Backend</a:t>
            </a:r>
            <a:r>
              <a:rPr spc="-7" dirty="0">
                <a:latin typeface="Georgia"/>
                <a:cs typeface="Georgia"/>
              </a:rPr>
              <a:t>:</a:t>
            </a:r>
            <a:r>
              <a:rPr spc="-53" dirty="0">
                <a:latin typeface="Georgia"/>
                <a:cs typeface="Georgia"/>
              </a:rPr>
              <a:t> </a:t>
            </a:r>
            <a:r>
              <a:rPr spc="-7" dirty="0">
                <a:latin typeface="Georgia"/>
                <a:cs typeface="Georgia"/>
              </a:rPr>
              <a:t>Node.js</a:t>
            </a:r>
            <a:r>
              <a:rPr spc="-53" dirty="0">
                <a:latin typeface="Georgia"/>
                <a:cs typeface="Georgia"/>
              </a:rPr>
              <a:t> </a:t>
            </a:r>
            <a:r>
              <a:rPr dirty="0">
                <a:latin typeface="Georgia"/>
                <a:cs typeface="Georgia"/>
              </a:rPr>
              <a:t>+</a:t>
            </a:r>
            <a:r>
              <a:rPr spc="-53" dirty="0">
                <a:latin typeface="Georgia"/>
                <a:cs typeface="Georgia"/>
              </a:rPr>
              <a:t> </a:t>
            </a:r>
            <a:r>
              <a:rPr spc="-13" dirty="0">
                <a:latin typeface="Georgia"/>
                <a:cs typeface="Georgia"/>
              </a:rPr>
              <a:t>Express.js,</a:t>
            </a:r>
            <a:r>
              <a:rPr spc="-53" dirty="0">
                <a:latin typeface="Georgia"/>
                <a:cs typeface="Georgia"/>
              </a:rPr>
              <a:t> </a:t>
            </a:r>
            <a:r>
              <a:rPr lang="en-IN" spc="-13" dirty="0">
                <a:latin typeface="Georgia"/>
                <a:cs typeface="Georgia"/>
              </a:rPr>
              <a:t>Python (Flask), Socket.IO, REST APIs.</a:t>
            </a:r>
          </a:p>
          <a:p>
            <a:pPr marL="11007" marR="3387">
              <a:lnSpc>
                <a:spcPct val="114599"/>
              </a:lnSpc>
              <a:tabLst>
                <a:tab pos="197707" algn="l"/>
              </a:tabLst>
            </a:pPr>
            <a:r>
              <a:rPr lang="en-US" b="1" u="sng" spc="-7" dirty="0">
                <a:solidFill>
                  <a:schemeClr val="tx2">
                    <a:lumMod val="75000"/>
                  </a:schemeClr>
                </a:solidFill>
                <a:latin typeface="Georgia"/>
                <a:cs typeface="Georgia"/>
              </a:rPr>
              <a:t>iii</a:t>
            </a:r>
            <a:r>
              <a:rPr lang="en-IN" b="1" u="sng" spc="-7" dirty="0">
                <a:solidFill>
                  <a:schemeClr val="tx2">
                    <a:lumMod val="75000"/>
                  </a:schemeClr>
                </a:solidFill>
                <a:latin typeface="Georgia"/>
                <a:cs typeface="Georgia"/>
              </a:rPr>
              <a:t>) OS Simulation</a:t>
            </a:r>
            <a:r>
              <a:rPr lang="en-IN" spc="-7" dirty="0">
                <a:latin typeface="Georgia"/>
                <a:cs typeface="Georgia"/>
              </a:rPr>
              <a:t>:</a:t>
            </a:r>
            <a:r>
              <a:rPr lang="en-IN" spc="-70" dirty="0">
                <a:latin typeface="Georgia"/>
                <a:cs typeface="Georgia"/>
              </a:rPr>
              <a:t> </a:t>
            </a:r>
            <a:r>
              <a:rPr lang="en-US" spc="-20" dirty="0">
                <a:latin typeface="Georgia"/>
                <a:cs typeface="Georgia"/>
              </a:rPr>
              <a:t> Multithreading, Priority Scheduling, Thread-safe Queue, Event-driven architecture</a:t>
            </a:r>
            <a:endParaRPr lang="en-IN" dirty="0">
              <a:latin typeface="Georgia"/>
              <a:cs typeface="Georgia"/>
            </a:endParaRPr>
          </a:p>
        </p:txBody>
      </p:sp>
      <p:sp>
        <p:nvSpPr>
          <p:cNvPr id="34" name="object 34"/>
          <p:cNvSpPr txBox="1">
            <a:spLocks noGrp="1"/>
          </p:cNvSpPr>
          <p:nvPr>
            <p:ph type="title"/>
          </p:nvPr>
        </p:nvSpPr>
        <p:spPr>
          <a:xfrm>
            <a:off x="4210692" y="-6074"/>
            <a:ext cx="4106729" cy="500992"/>
          </a:xfrm>
          <a:prstGeom prst="rect">
            <a:avLst/>
          </a:prstGeom>
        </p:spPr>
        <p:txBody>
          <a:bodyPr vert="horz" wrap="square" lIns="0" tIns="8467" rIns="0" bIns="0" rtlCol="0">
            <a:spAutoFit/>
          </a:bodyPr>
          <a:lstStyle/>
          <a:p>
            <a:pPr marL="8467">
              <a:spcBef>
                <a:spcPts val="67"/>
              </a:spcBef>
            </a:pPr>
            <a:r>
              <a:rPr sz="3200" u="sng" dirty="0">
                <a:solidFill>
                  <a:schemeClr val="tx2">
                    <a:lumMod val="75000"/>
                  </a:schemeClr>
                </a:solidFill>
                <a:latin typeface="Roboto"/>
                <a:cs typeface="Roboto"/>
              </a:rPr>
              <a:t>Technologies</a:t>
            </a:r>
            <a:r>
              <a:rPr sz="3200" u="sng" spc="33" dirty="0">
                <a:solidFill>
                  <a:schemeClr val="tx2">
                    <a:lumMod val="75000"/>
                  </a:schemeClr>
                </a:solidFill>
                <a:latin typeface="Roboto"/>
                <a:cs typeface="Roboto"/>
              </a:rPr>
              <a:t> </a:t>
            </a:r>
            <a:r>
              <a:rPr sz="3200" u="sng" dirty="0">
                <a:solidFill>
                  <a:schemeClr val="tx2">
                    <a:lumMod val="75000"/>
                  </a:schemeClr>
                </a:solidFill>
                <a:latin typeface="Roboto"/>
                <a:cs typeface="Roboto"/>
              </a:rPr>
              <a:t>/</a:t>
            </a:r>
            <a:r>
              <a:rPr sz="3200" u="sng" spc="33" dirty="0">
                <a:solidFill>
                  <a:schemeClr val="tx2">
                    <a:lumMod val="75000"/>
                  </a:schemeClr>
                </a:solidFill>
                <a:latin typeface="Roboto"/>
                <a:cs typeface="Roboto"/>
              </a:rPr>
              <a:t> </a:t>
            </a:r>
            <a:r>
              <a:rPr sz="3200" u="sng" spc="-7" dirty="0">
                <a:solidFill>
                  <a:schemeClr val="tx2">
                    <a:lumMod val="75000"/>
                  </a:schemeClr>
                </a:solidFill>
                <a:latin typeface="Roboto"/>
                <a:cs typeface="Roboto"/>
              </a:rPr>
              <a:t>Stack</a:t>
            </a:r>
            <a:endParaRPr sz="3200" u="sng" dirty="0">
              <a:solidFill>
                <a:schemeClr val="tx2">
                  <a:lumMod val="75000"/>
                </a:schemeClr>
              </a:solidFill>
              <a:latin typeface="Roboto"/>
              <a:cs typeface="Roboto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108521" y="3122301"/>
            <a:ext cx="5313481" cy="439437"/>
          </a:xfrm>
          <a:prstGeom prst="rect">
            <a:avLst/>
          </a:prstGeom>
        </p:spPr>
        <p:txBody>
          <a:bodyPr vert="horz" wrap="square" lIns="0" tIns="8467" rIns="0" bIns="0" rtlCol="0">
            <a:spAutoFit/>
          </a:bodyPr>
          <a:lstStyle/>
          <a:p>
            <a:pPr marL="8467">
              <a:spcBef>
                <a:spcPts val="67"/>
              </a:spcBef>
            </a:pPr>
            <a:r>
              <a:rPr lang="en-US" sz="2800" b="1" u="sng" dirty="0">
                <a:solidFill>
                  <a:schemeClr val="tx2">
                    <a:lumMod val="75000"/>
                  </a:schemeClr>
                </a:solidFill>
                <a:latin typeface="Roboto"/>
                <a:cs typeface="Roboto"/>
              </a:rPr>
              <a:t>  Methodology</a:t>
            </a:r>
            <a:r>
              <a:rPr lang="en-US" sz="2800" b="1" u="sng" spc="-3" dirty="0">
                <a:solidFill>
                  <a:schemeClr val="tx2">
                    <a:lumMod val="75000"/>
                  </a:schemeClr>
                </a:solidFill>
                <a:latin typeface="Roboto"/>
                <a:cs typeface="Roboto"/>
              </a:rPr>
              <a:t> </a:t>
            </a:r>
            <a:r>
              <a:rPr lang="en-US" sz="2800" b="1" u="sng" dirty="0">
                <a:solidFill>
                  <a:schemeClr val="tx2">
                    <a:lumMod val="75000"/>
                  </a:schemeClr>
                </a:solidFill>
                <a:latin typeface="Roboto"/>
                <a:cs typeface="Roboto"/>
              </a:rPr>
              <a:t>/</a:t>
            </a:r>
            <a:r>
              <a:rPr lang="en-US" sz="2800" b="1" u="sng" spc="3" dirty="0">
                <a:solidFill>
                  <a:schemeClr val="tx2">
                    <a:lumMod val="75000"/>
                  </a:schemeClr>
                </a:solidFill>
                <a:latin typeface="Roboto"/>
                <a:cs typeface="Roboto"/>
              </a:rPr>
              <a:t> </a:t>
            </a:r>
            <a:r>
              <a:rPr lang="en-US" sz="2800" b="1" u="sng" dirty="0">
                <a:solidFill>
                  <a:schemeClr val="tx2">
                    <a:lumMod val="75000"/>
                  </a:schemeClr>
                </a:solidFill>
                <a:latin typeface="Roboto"/>
                <a:cs typeface="Roboto"/>
              </a:rPr>
              <a:t>Process</a:t>
            </a:r>
            <a:r>
              <a:rPr lang="en-US" sz="2800" b="1" u="sng" spc="3" dirty="0">
                <a:solidFill>
                  <a:schemeClr val="tx2">
                    <a:lumMod val="75000"/>
                  </a:schemeClr>
                </a:solidFill>
                <a:latin typeface="Roboto"/>
                <a:cs typeface="Roboto"/>
              </a:rPr>
              <a:t> </a:t>
            </a:r>
            <a:r>
              <a:rPr lang="en-US" sz="2800" b="1" u="sng" spc="-13" dirty="0">
                <a:solidFill>
                  <a:schemeClr val="tx2">
                    <a:lumMod val="75000"/>
                  </a:schemeClr>
                </a:solidFill>
                <a:latin typeface="Roboto"/>
                <a:cs typeface="Roboto"/>
              </a:rPr>
              <a:t>Flow</a:t>
            </a:r>
            <a:endParaRPr lang="en-US" sz="2800" b="1" u="sng" dirty="0">
              <a:solidFill>
                <a:schemeClr val="tx2">
                  <a:lumMod val="75000"/>
                </a:schemeClr>
              </a:solidFill>
              <a:latin typeface="Roboto"/>
              <a:cs typeface="Roboto"/>
            </a:endParaRPr>
          </a:p>
        </p:txBody>
      </p: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185B51F7-BCC5-06F2-175F-8361F482FC95}"/>
              </a:ext>
            </a:extLst>
          </p:cNvPr>
          <p:cNvCxnSpPr/>
          <p:nvPr/>
        </p:nvCxnSpPr>
        <p:spPr>
          <a:xfrm>
            <a:off x="0" y="2885101"/>
            <a:ext cx="12192000" cy="24304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pic>
        <p:nvPicPr>
          <p:cNvPr id="44" name="Picture 43">
            <a:extLst>
              <a:ext uri="{FF2B5EF4-FFF2-40B4-BE49-F238E27FC236}">
                <a16:creationId xmlns:a16="http://schemas.microsoft.com/office/drawing/2014/main" id="{BB141E4A-D3B6-C89D-D056-10ECA98EBB7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53609" y="255680"/>
            <a:ext cx="4100191" cy="3001059"/>
          </a:xfrm>
          <a:prstGeom prst="rect">
            <a:avLst/>
          </a:prstGeom>
        </p:spPr>
      </p:pic>
      <p:cxnSp>
        <p:nvCxnSpPr>
          <p:cNvPr id="48" name="Straight Connector 47">
            <a:extLst>
              <a:ext uri="{FF2B5EF4-FFF2-40B4-BE49-F238E27FC236}">
                <a16:creationId xmlns:a16="http://schemas.microsoft.com/office/drawing/2014/main" id="{8C1CF358-806F-8B25-43C7-869E05621BBD}"/>
              </a:ext>
            </a:extLst>
          </p:cNvPr>
          <p:cNvCxnSpPr>
            <a:cxnSpLocks/>
          </p:cNvCxnSpPr>
          <p:nvPr/>
        </p:nvCxnSpPr>
        <p:spPr>
          <a:xfrm>
            <a:off x="6255987" y="521190"/>
            <a:ext cx="0" cy="2298210"/>
          </a:xfrm>
          <a:prstGeom prst="line">
            <a:avLst/>
          </a:prstGeom>
          <a:ln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53" name="TextBox 52">
            <a:extLst>
              <a:ext uri="{FF2B5EF4-FFF2-40B4-BE49-F238E27FC236}">
                <a16:creationId xmlns:a16="http://schemas.microsoft.com/office/drawing/2014/main" id="{4AADA455-5650-0D72-7979-07624ECDDA7A}"/>
              </a:ext>
            </a:extLst>
          </p:cNvPr>
          <p:cNvSpPr txBox="1"/>
          <p:nvPr/>
        </p:nvSpPr>
        <p:spPr>
          <a:xfrm>
            <a:off x="7783269" y="3600895"/>
            <a:ext cx="4267200" cy="25545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Font typeface="+mj-lt"/>
              <a:buAutoNum type="arabicPeriod"/>
            </a:pPr>
            <a:r>
              <a:rPr lang="en-IN" sz="2000" b="1" i="0" u="sng" dirty="0">
                <a:solidFill>
                  <a:schemeClr val="tx2">
                    <a:lumMod val="75000"/>
                  </a:schemeClr>
                </a:solidFill>
                <a:effectLst/>
                <a:latin typeface="ui-sans-serif"/>
              </a:rPr>
              <a:t>Client Dashboard </a:t>
            </a:r>
            <a:r>
              <a:rPr lang="en-IN" sz="2000" b="0" i="0" dirty="0">
                <a:solidFill>
                  <a:schemeClr val="tx1"/>
                </a:solidFill>
                <a:effectLst/>
                <a:latin typeface="ui-sans-serif"/>
              </a:rPr>
              <a:t>– Place orders &amp; track status.</a:t>
            </a:r>
          </a:p>
          <a:p>
            <a:pPr algn="l">
              <a:buFont typeface="+mj-lt"/>
              <a:buAutoNum type="arabicPeriod"/>
            </a:pPr>
            <a:r>
              <a:rPr lang="en-IN" sz="2000" b="1" i="0" u="sng" dirty="0">
                <a:solidFill>
                  <a:schemeClr val="tx2">
                    <a:lumMod val="75000"/>
                  </a:schemeClr>
                </a:solidFill>
                <a:effectLst/>
                <a:latin typeface="ui-sans-serif"/>
              </a:rPr>
              <a:t>Gateway Server </a:t>
            </a:r>
            <a:r>
              <a:rPr lang="en-IN" sz="2000" b="0" i="0" dirty="0">
                <a:solidFill>
                  <a:schemeClr val="tx1"/>
                </a:solidFill>
                <a:effectLst/>
                <a:latin typeface="ui-sans-serif"/>
              </a:rPr>
              <a:t>– Route requests &amp; relay events.</a:t>
            </a:r>
          </a:p>
          <a:p>
            <a:pPr algn="l">
              <a:buFont typeface="+mj-lt"/>
              <a:buAutoNum type="arabicPeriod"/>
            </a:pPr>
            <a:r>
              <a:rPr lang="en-IN" sz="2000" b="1" i="0" u="sng" dirty="0">
                <a:solidFill>
                  <a:schemeClr val="tx2">
                    <a:lumMod val="75000"/>
                  </a:schemeClr>
                </a:solidFill>
                <a:effectLst/>
                <a:latin typeface="ui-sans-serif"/>
              </a:rPr>
              <a:t>Simulation Engine </a:t>
            </a:r>
            <a:r>
              <a:rPr lang="en-IN" sz="2000" b="0" i="0" dirty="0">
                <a:solidFill>
                  <a:schemeClr val="tx1"/>
                </a:solidFill>
                <a:effectLst/>
                <a:latin typeface="ui-sans-serif"/>
              </a:rPr>
              <a:t>– Schedule &amp; process orders.</a:t>
            </a:r>
          </a:p>
          <a:p>
            <a:pPr algn="l">
              <a:buFont typeface="+mj-lt"/>
              <a:buAutoNum type="arabicPeriod"/>
            </a:pPr>
            <a:r>
              <a:rPr lang="en-IN" sz="2000" b="1" i="0" u="sng" dirty="0">
                <a:solidFill>
                  <a:schemeClr val="tx2">
                    <a:lumMod val="75000"/>
                  </a:schemeClr>
                </a:solidFill>
                <a:effectLst/>
                <a:latin typeface="ui-sans-serif"/>
              </a:rPr>
              <a:t>Monitoring Dashboard</a:t>
            </a:r>
            <a:r>
              <a:rPr lang="en-IN" sz="2000" b="0" i="0" dirty="0">
                <a:solidFill>
                  <a:schemeClr val="tx1"/>
                </a:solidFill>
                <a:effectLst/>
                <a:latin typeface="ui-sans-serif"/>
              </a:rPr>
              <a:t> – Show metrics &amp; analytics.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B2FA085-39A8-8194-0406-944F289CAAE8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073" y="3566033"/>
            <a:ext cx="4837695" cy="3158777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55176012-03DA-BDD5-86FC-F33996A5BCFE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05400" y="2791808"/>
            <a:ext cx="2807825" cy="4211736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271C3A39-C5E4-4B3D-5D21-44FDEC1F79B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3478976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3ACB985A-1FEF-634E-AE76-0F318E58085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276600"/>
            <a:ext cx="12192000" cy="3379024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64A70FCB-DF10-BDC0-22ED-18A4268B74B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1" y="6655624"/>
            <a:ext cx="12192001" cy="2097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842830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277768" y="94287"/>
            <a:ext cx="7818440" cy="544765"/>
          </a:xfrm>
          <a:prstGeom prst="rect">
            <a:avLst/>
          </a:prstGeom>
        </p:spPr>
        <p:txBody>
          <a:bodyPr vert="horz" wrap="square" lIns="0" tIns="51816" rIns="0" bIns="0" rtlCol="0">
            <a:spAutoFit/>
          </a:bodyPr>
          <a:lstStyle/>
          <a:p>
            <a:pPr marL="465690">
              <a:spcBef>
                <a:spcPts val="67"/>
              </a:spcBef>
            </a:pPr>
            <a:r>
              <a:rPr sz="3200" u="sng" spc="-7" dirty="0">
                <a:solidFill>
                  <a:schemeClr val="tx2">
                    <a:lumMod val="75000"/>
                  </a:schemeClr>
                </a:solidFill>
                <a:latin typeface="Georgia"/>
                <a:cs typeface="Georgia"/>
              </a:rPr>
              <a:t>FE</a:t>
            </a:r>
            <a:r>
              <a:rPr sz="3200" u="sng" spc="-7" dirty="0">
                <a:solidFill>
                  <a:schemeClr val="tx2">
                    <a:lumMod val="75000"/>
                  </a:schemeClr>
                </a:solidFill>
                <a:uFill>
                  <a:solidFill>
                    <a:srgbClr val="000000"/>
                  </a:solidFill>
                </a:uFill>
                <a:latin typeface="Georgia"/>
                <a:cs typeface="Georgia"/>
              </a:rPr>
              <a:t>ASIBILITY</a:t>
            </a:r>
            <a:r>
              <a:rPr sz="3200" u="sng" spc="-90" dirty="0">
                <a:solidFill>
                  <a:schemeClr val="tx2">
                    <a:lumMod val="75000"/>
                  </a:schemeClr>
                </a:solidFill>
                <a:uFill>
                  <a:solidFill>
                    <a:srgbClr val="000000"/>
                  </a:solidFill>
                </a:uFill>
                <a:latin typeface="Georgia"/>
                <a:cs typeface="Georgia"/>
              </a:rPr>
              <a:t> </a:t>
            </a:r>
            <a:r>
              <a:rPr sz="3200" u="sng" dirty="0">
                <a:solidFill>
                  <a:schemeClr val="tx2">
                    <a:lumMod val="75000"/>
                  </a:schemeClr>
                </a:solidFill>
                <a:uFill>
                  <a:solidFill>
                    <a:srgbClr val="000000"/>
                  </a:solidFill>
                </a:uFill>
                <a:latin typeface="Georgia"/>
                <a:cs typeface="Georgia"/>
              </a:rPr>
              <a:t>AND</a:t>
            </a:r>
            <a:r>
              <a:rPr sz="3200" u="sng" spc="-90" dirty="0">
                <a:solidFill>
                  <a:schemeClr val="tx2">
                    <a:lumMod val="75000"/>
                  </a:schemeClr>
                </a:solidFill>
                <a:uFill>
                  <a:solidFill>
                    <a:srgbClr val="000000"/>
                  </a:solidFill>
                </a:uFill>
                <a:latin typeface="Georgia"/>
                <a:cs typeface="Georgia"/>
              </a:rPr>
              <a:t> </a:t>
            </a:r>
            <a:r>
              <a:rPr sz="3200" u="sng" spc="-7" dirty="0">
                <a:solidFill>
                  <a:schemeClr val="tx2">
                    <a:lumMod val="75000"/>
                  </a:schemeClr>
                </a:solidFill>
                <a:uFill>
                  <a:solidFill>
                    <a:srgbClr val="000000"/>
                  </a:solidFill>
                </a:uFill>
                <a:latin typeface="Georgia"/>
                <a:cs typeface="Georgia"/>
              </a:rPr>
              <a:t>VIAB</a:t>
            </a:r>
            <a:r>
              <a:rPr sz="3200" u="sng" spc="-7" dirty="0">
                <a:solidFill>
                  <a:schemeClr val="tx2">
                    <a:lumMod val="75000"/>
                  </a:schemeClr>
                </a:solidFill>
                <a:latin typeface="Georgia"/>
                <a:cs typeface="Georgia"/>
              </a:rPr>
              <a:t>ILITY</a:t>
            </a:r>
            <a:endParaRPr sz="3200" u="sng" dirty="0">
              <a:solidFill>
                <a:schemeClr val="tx2">
                  <a:lumMod val="75000"/>
                </a:schemeClr>
              </a:solidFill>
              <a:latin typeface="Georgia"/>
              <a:cs typeface="Georgia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1474714" y="6424085"/>
            <a:ext cx="116417" cy="193216"/>
          </a:xfrm>
          <a:prstGeom prst="rect">
            <a:avLst/>
          </a:prstGeom>
        </p:spPr>
        <p:txBody>
          <a:bodyPr vert="horz" wrap="square" lIns="0" tIns="8467" rIns="0" bIns="0" rtlCol="0">
            <a:spAutoFit/>
          </a:bodyPr>
          <a:lstStyle/>
          <a:p>
            <a:pPr marL="8467">
              <a:spcBef>
                <a:spcPts val="67"/>
              </a:spcBef>
            </a:pPr>
            <a:r>
              <a:rPr sz="1200" b="1" spc="-33" dirty="0">
                <a:solidFill>
                  <a:srgbClr val="FFFFFF"/>
                </a:solidFill>
                <a:latin typeface="Georgia"/>
                <a:cs typeface="Georgia"/>
              </a:rPr>
              <a:t>4</a:t>
            </a:r>
            <a:endParaRPr sz="1200">
              <a:latin typeface="Georgia"/>
              <a:cs typeface="Georgia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5102886" y="6424085"/>
            <a:ext cx="2294467" cy="193216"/>
          </a:xfrm>
          <a:prstGeom prst="rect">
            <a:avLst/>
          </a:prstGeom>
        </p:spPr>
        <p:txBody>
          <a:bodyPr vert="horz" wrap="square" lIns="0" tIns="8467" rIns="0" bIns="0" rtlCol="0">
            <a:spAutoFit/>
          </a:bodyPr>
          <a:lstStyle/>
          <a:p>
            <a:pPr marL="8467">
              <a:spcBef>
                <a:spcPts val="67"/>
              </a:spcBef>
            </a:pPr>
            <a:r>
              <a:rPr sz="1200" dirty="0">
                <a:solidFill>
                  <a:srgbClr val="FFFFFF"/>
                </a:solidFill>
                <a:latin typeface="Georgia"/>
                <a:cs typeface="Georgia"/>
              </a:rPr>
              <a:t>@SIH</a:t>
            </a:r>
            <a:r>
              <a:rPr sz="1200" spc="-10" dirty="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sz="1200" dirty="0">
                <a:solidFill>
                  <a:srgbClr val="FFFFFF"/>
                </a:solidFill>
                <a:latin typeface="Georgia"/>
                <a:cs typeface="Georgia"/>
              </a:rPr>
              <a:t>Idea</a:t>
            </a:r>
            <a:r>
              <a:rPr sz="1200" spc="-7" dirty="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sz="1200" dirty="0">
                <a:solidFill>
                  <a:srgbClr val="FFFFFF"/>
                </a:solidFill>
                <a:latin typeface="Georgia"/>
                <a:cs typeface="Georgia"/>
              </a:rPr>
              <a:t>submission-</a:t>
            </a:r>
            <a:r>
              <a:rPr sz="1200" spc="-10" dirty="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sz="1200" spc="-7" dirty="0">
                <a:solidFill>
                  <a:srgbClr val="FFFFFF"/>
                </a:solidFill>
                <a:latin typeface="Georgia"/>
                <a:cs typeface="Georgia"/>
              </a:rPr>
              <a:t>Template</a:t>
            </a:r>
            <a:endParaRPr sz="1200">
              <a:latin typeface="Georgia"/>
              <a:cs typeface="Georgia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329810" y="848583"/>
            <a:ext cx="11537950" cy="2874737"/>
            <a:chOff x="494715" y="1272874"/>
            <a:chExt cx="17306925" cy="4312106"/>
          </a:xfrm>
        </p:grpSpPr>
        <p:sp>
          <p:nvSpPr>
            <p:cNvPr id="12" name="object 12"/>
            <p:cNvSpPr/>
            <p:nvPr/>
          </p:nvSpPr>
          <p:spPr>
            <a:xfrm>
              <a:off x="494715" y="1830560"/>
              <a:ext cx="17306925" cy="3218180"/>
            </a:xfrm>
            <a:custGeom>
              <a:avLst/>
              <a:gdLst/>
              <a:ahLst/>
              <a:cxnLst/>
              <a:rect l="l" t="t" r="r" b="b"/>
              <a:pathLst>
                <a:path w="17306925" h="3218179">
                  <a:moveTo>
                    <a:pt x="17306903" y="3217663"/>
                  </a:moveTo>
                  <a:lnTo>
                    <a:pt x="0" y="3217663"/>
                  </a:lnTo>
                  <a:lnTo>
                    <a:pt x="0" y="0"/>
                  </a:lnTo>
                  <a:lnTo>
                    <a:pt x="17306903" y="0"/>
                  </a:lnTo>
                </a:path>
              </a:pathLst>
            </a:custGeom>
            <a:ln w="57149">
              <a:solidFill>
                <a:srgbClr val="004A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3531842" y="1288077"/>
              <a:ext cx="478790" cy="390525"/>
            </a:xfrm>
            <a:custGeom>
              <a:avLst/>
              <a:gdLst/>
              <a:ahLst/>
              <a:cxnLst/>
              <a:rect l="l" t="t" r="r" b="b"/>
              <a:pathLst>
                <a:path w="478789" h="390525">
                  <a:moveTo>
                    <a:pt x="117502" y="390042"/>
                  </a:moveTo>
                  <a:lnTo>
                    <a:pt x="77624" y="369683"/>
                  </a:lnTo>
                  <a:lnTo>
                    <a:pt x="66806" y="334937"/>
                  </a:lnTo>
                  <a:lnTo>
                    <a:pt x="0" y="334937"/>
                  </a:lnTo>
                  <a:lnTo>
                    <a:pt x="0" y="236851"/>
                  </a:lnTo>
                  <a:lnTo>
                    <a:pt x="66806" y="236851"/>
                  </a:lnTo>
                  <a:lnTo>
                    <a:pt x="71931" y="217892"/>
                  </a:lnTo>
                  <a:lnTo>
                    <a:pt x="78628" y="199638"/>
                  </a:lnTo>
                  <a:lnTo>
                    <a:pt x="86822" y="182165"/>
                  </a:lnTo>
                  <a:lnTo>
                    <a:pt x="96437" y="165549"/>
                  </a:lnTo>
                  <a:lnTo>
                    <a:pt x="49180" y="118414"/>
                  </a:lnTo>
                  <a:lnTo>
                    <a:pt x="118720" y="49054"/>
                  </a:lnTo>
                  <a:lnTo>
                    <a:pt x="165976" y="96188"/>
                  </a:lnTo>
                  <a:lnTo>
                    <a:pt x="182635" y="86599"/>
                  </a:lnTo>
                  <a:lnTo>
                    <a:pt x="200153" y="78428"/>
                  </a:lnTo>
                  <a:lnTo>
                    <a:pt x="218454" y="71755"/>
                  </a:lnTo>
                  <a:lnTo>
                    <a:pt x="237462" y="66656"/>
                  </a:lnTo>
                  <a:lnTo>
                    <a:pt x="237462" y="0"/>
                  </a:lnTo>
                  <a:lnTo>
                    <a:pt x="335802" y="0"/>
                  </a:lnTo>
                  <a:lnTo>
                    <a:pt x="335802" y="66656"/>
                  </a:lnTo>
                  <a:lnTo>
                    <a:pt x="354798" y="71755"/>
                  </a:lnTo>
                  <a:lnTo>
                    <a:pt x="373092" y="78428"/>
                  </a:lnTo>
                  <a:lnTo>
                    <a:pt x="390608" y="86599"/>
                  </a:lnTo>
                  <a:lnTo>
                    <a:pt x="407266" y="96188"/>
                  </a:lnTo>
                  <a:lnTo>
                    <a:pt x="454523" y="49054"/>
                  </a:lnTo>
                  <a:lnTo>
                    <a:pt x="478118" y="72566"/>
                  </a:lnTo>
                  <a:lnTo>
                    <a:pt x="478407" y="128099"/>
                  </a:lnTo>
                  <a:lnTo>
                    <a:pt x="468273" y="173680"/>
                  </a:lnTo>
                  <a:lnTo>
                    <a:pt x="448043" y="209619"/>
                  </a:lnTo>
                  <a:lnTo>
                    <a:pt x="418043" y="236229"/>
                  </a:lnTo>
                  <a:lnTo>
                    <a:pt x="378598" y="253820"/>
                  </a:lnTo>
                  <a:lnTo>
                    <a:pt x="364598" y="227671"/>
                  </a:lnTo>
                  <a:lnTo>
                    <a:pt x="343574" y="207081"/>
                  </a:lnTo>
                  <a:lnTo>
                    <a:pt x="317067" y="193595"/>
                  </a:lnTo>
                  <a:lnTo>
                    <a:pt x="286621" y="188756"/>
                  </a:lnTo>
                  <a:lnTo>
                    <a:pt x="248708" y="196390"/>
                  </a:lnTo>
                  <a:lnTo>
                    <a:pt x="217749" y="217207"/>
                  </a:lnTo>
                  <a:lnTo>
                    <a:pt x="196876" y="248080"/>
                  </a:lnTo>
                  <a:lnTo>
                    <a:pt x="189222" y="285883"/>
                  </a:lnTo>
                  <a:lnTo>
                    <a:pt x="189222" y="289722"/>
                  </a:lnTo>
                  <a:lnTo>
                    <a:pt x="189463" y="293495"/>
                  </a:lnTo>
                  <a:lnTo>
                    <a:pt x="189900" y="297225"/>
                  </a:lnTo>
                  <a:lnTo>
                    <a:pt x="174372" y="355611"/>
                  </a:lnTo>
                  <a:lnTo>
                    <a:pt x="149192" y="384111"/>
                  </a:lnTo>
                  <a:lnTo>
                    <a:pt x="117502" y="390042"/>
                  </a:lnTo>
                  <a:close/>
                </a:path>
              </a:pathLst>
            </a:custGeom>
            <a:solidFill>
              <a:srgbClr val="F9B03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3891086" y="1272874"/>
              <a:ext cx="531495" cy="576580"/>
            </a:xfrm>
            <a:custGeom>
              <a:avLst/>
              <a:gdLst/>
              <a:ahLst/>
              <a:cxnLst/>
              <a:rect l="l" t="t" r="r" b="b"/>
              <a:pathLst>
                <a:path w="531495" h="576580">
                  <a:moveTo>
                    <a:pt x="435520" y="576304"/>
                  </a:moveTo>
                  <a:lnTo>
                    <a:pt x="178397" y="576304"/>
                  </a:lnTo>
                  <a:lnTo>
                    <a:pt x="0" y="304292"/>
                  </a:lnTo>
                  <a:lnTo>
                    <a:pt x="139910" y="49424"/>
                  </a:lnTo>
                  <a:lnTo>
                    <a:pt x="174836" y="13106"/>
                  </a:lnTo>
                  <a:lnTo>
                    <a:pt x="223555" y="0"/>
                  </a:lnTo>
                  <a:lnTo>
                    <a:pt x="249161" y="3370"/>
                  </a:lnTo>
                  <a:lnTo>
                    <a:pt x="291937" y="28645"/>
                  </a:lnTo>
                  <a:lnTo>
                    <a:pt x="519164" y="435488"/>
                  </a:lnTo>
                  <a:lnTo>
                    <a:pt x="531003" y="482792"/>
                  </a:lnTo>
                  <a:lnTo>
                    <a:pt x="527433" y="506820"/>
                  </a:lnTo>
                  <a:lnTo>
                    <a:pt x="502217" y="549278"/>
                  </a:lnTo>
                  <a:lnTo>
                    <a:pt x="460256" y="573124"/>
                  </a:lnTo>
                  <a:lnTo>
                    <a:pt x="435520" y="576304"/>
                  </a:lnTo>
                  <a:close/>
                </a:path>
              </a:pathLst>
            </a:custGeom>
            <a:solidFill>
              <a:srgbClr val="D5E9E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3956383" y="1344569"/>
              <a:ext cx="394970" cy="433070"/>
            </a:xfrm>
            <a:custGeom>
              <a:avLst/>
              <a:gdLst/>
              <a:ahLst/>
              <a:cxnLst/>
              <a:rect l="l" t="t" r="r" b="b"/>
              <a:pathLst>
                <a:path w="394970" h="433069">
                  <a:moveTo>
                    <a:pt x="378729" y="432915"/>
                  </a:moveTo>
                  <a:lnTo>
                    <a:pt x="111416" y="432915"/>
                  </a:lnTo>
                  <a:lnTo>
                    <a:pt x="97206" y="381704"/>
                  </a:lnTo>
                  <a:lnTo>
                    <a:pt x="73076" y="335485"/>
                  </a:lnTo>
                  <a:lnTo>
                    <a:pt x="40263" y="295487"/>
                  </a:lnTo>
                  <a:lnTo>
                    <a:pt x="0" y="262937"/>
                  </a:lnTo>
                  <a:lnTo>
                    <a:pt x="141922" y="4449"/>
                  </a:lnTo>
                  <a:lnTo>
                    <a:pt x="149423" y="0"/>
                  </a:lnTo>
                  <a:lnTo>
                    <a:pt x="167114" y="0"/>
                  </a:lnTo>
                  <a:lnTo>
                    <a:pt x="174614" y="4449"/>
                  </a:lnTo>
                  <a:lnTo>
                    <a:pt x="390822" y="398234"/>
                  </a:lnTo>
                  <a:lnTo>
                    <a:pt x="394911" y="405672"/>
                  </a:lnTo>
                  <a:lnTo>
                    <a:pt x="394758" y="414135"/>
                  </a:lnTo>
                  <a:lnTo>
                    <a:pt x="386098" y="428727"/>
                  </a:lnTo>
                  <a:lnTo>
                    <a:pt x="378729" y="432915"/>
                  </a:lnTo>
                  <a:close/>
                </a:path>
              </a:pathLst>
            </a:custGeom>
            <a:solidFill>
              <a:srgbClr val="D04A6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4082986" y="1445894"/>
              <a:ext cx="63500" cy="262255"/>
            </a:xfrm>
            <a:custGeom>
              <a:avLst/>
              <a:gdLst/>
              <a:ahLst/>
              <a:cxnLst/>
              <a:rect l="l" t="t" r="r" b="b"/>
              <a:pathLst>
                <a:path w="63500" h="262255">
                  <a:moveTo>
                    <a:pt x="63296" y="226377"/>
                  </a:moveTo>
                  <a:lnTo>
                    <a:pt x="35839" y="199009"/>
                  </a:lnTo>
                  <a:lnTo>
                    <a:pt x="27457" y="199009"/>
                  </a:lnTo>
                  <a:lnTo>
                    <a:pt x="0" y="226377"/>
                  </a:lnTo>
                  <a:lnTo>
                    <a:pt x="0" y="234746"/>
                  </a:lnTo>
                  <a:lnTo>
                    <a:pt x="27457" y="262128"/>
                  </a:lnTo>
                  <a:lnTo>
                    <a:pt x="35839" y="262128"/>
                  </a:lnTo>
                  <a:lnTo>
                    <a:pt x="63296" y="234746"/>
                  </a:lnTo>
                  <a:lnTo>
                    <a:pt x="63296" y="230568"/>
                  </a:lnTo>
                  <a:lnTo>
                    <a:pt x="63296" y="226377"/>
                  </a:lnTo>
                  <a:close/>
                </a:path>
                <a:path w="63500" h="262255">
                  <a:moveTo>
                    <a:pt x="63296" y="22860"/>
                  </a:moveTo>
                  <a:lnTo>
                    <a:pt x="59753" y="14960"/>
                  </a:lnTo>
                  <a:lnTo>
                    <a:pt x="48285" y="3530"/>
                  </a:lnTo>
                  <a:lnTo>
                    <a:pt x="40373" y="0"/>
                  </a:lnTo>
                  <a:lnTo>
                    <a:pt x="31648" y="0"/>
                  </a:lnTo>
                  <a:lnTo>
                    <a:pt x="19329" y="2476"/>
                  </a:lnTo>
                  <a:lnTo>
                    <a:pt x="9271" y="9245"/>
                  </a:lnTo>
                  <a:lnTo>
                    <a:pt x="2489" y="19278"/>
                  </a:lnTo>
                  <a:lnTo>
                    <a:pt x="0" y="31559"/>
                  </a:lnTo>
                  <a:lnTo>
                    <a:pt x="0" y="122428"/>
                  </a:lnTo>
                  <a:lnTo>
                    <a:pt x="2489" y="134708"/>
                  </a:lnTo>
                  <a:lnTo>
                    <a:pt x="9271" y="144741"/>
                  </a:lnTo>
                  <a:lnTo>
                    <a:pt x="19329" y="151498"/>
                  </a:lnTo>
                  <a:lnTo>
                    <a:pt x="31648" y="153987"/>
                  </a:lnTo>
                  <a:lnTo>
                    <a:pt x="43967" y="151498"/>
                  </a:lnTo>
                  <a:lnTo>
                    <a:pt x="54025" y="144741"/>
                  </a:lnTo>
                  <a:lnTo>
                    <a:pt x="60807" y="134708"/>
                  </a:lnTo>
                  <a:lnTo>
                    <a:pt x="63296" y="122428"/>
                  </a:lnTo>
                  <a:lnTo>
                    <a:pt x="63296" y="31559"/>
                  </a:lnTo>
                  <a:lnTo>
                    <a:pt x="63296" y="22860"/>
                  </a:lnTo>
                  <a:close/>
                </a:path>
              </a:pathLst>
            </a:custGeom>
            <a:solidFill>
              <a:srgbClr val="E7F1F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4067013" y="1883859"/>
              <a:ext cx="530860" cy="470534"/>
            </a:xfrm>
            <a:custGeom>
              <a:avLst/>
              <a:gdLst/>
              <a:ahLst/>
              <a:cxnLst/>
              <a:rect l="l" t="t" r="r" b="b"/>
              <a:pathLst>
                <a:path w="530860" h="470535">
                  <a:moveTo>
                    <a:pt x="240836" y="145875"/>
                  </a:moveTo>
                  <a:lnTo>
                    <a:pt x="114893" y="145875"/>
                  </a:lnTo>
                  <a:lnTo>
                    <a:pt x="121314" y="145179"/>
                  </a:lnTo>
                  <a:lnTo>
                    <a:pt x="127456" y="143108"/>
                  </a:lnTo>
                  <a:lnTo>
                    <a:pt x="133074" y="139682"/>
                  </a:lnTo>
                  <a:lnTo>
                    <a:pt x="137920" y="134926"/>
                  </a:lnTo>
                  <a:lnTo>
                    <a:pt x="143356" y="124539"/>
                  </a:lnTo>
                  <a:lnTo>
                    <a:pt x="144341" y="113275"/>
                  </a:lnTo>
                  <a:lnTo>
                    <a:pt x="141135" y="102849"/>
                  </a:lnTo>
                  <a:lnTo>
                    <a:pt x="141017" y="102465"/>
                  </a:lnTo>
                  <a:lnTo>
                    <a:pt x="133525" y="93440"/>
                  </a:lnTo>
                  <a:lnTo>
                    <a:pt x="92282" y="60156"/>
                  </a:lnTo>
                  <a:lnTo>
                    <a:pt x="80824" y="42929"/>
                  </a:lnTo>
                  <a:lnTo>
                    <a:pt x="81143" y="26457"/>
                  </a:lnTo>
                  <a:lnTo>
                    <a:pt x="81198" y="23649"/>
                  </a:lnTo>
                  <a:lnTo>
                    <a:pt x="91793" y="7583"/>
                  </a:lnTo>
                  <a:lnTo>
                    <a:pt x="111001" y="0"/>
                  </a:lnTo>
                  <a:lnTo>
                    <a:pt x="133032" y="480"/>
                  </a:lnTo>
                  <a:lnTo>
                    <a:pt x="154777" y="5008"/>
                  </a:lnTo>
                  <a:lnTo>
                    <a:pt x="195061" y="26457"/>
                  </a:lnTo>
                  <a:lnTo>
                    <a:pt x="232878" y="79824"/>
                  </a:lnTo>
                  <a:lnTo>
                    <a:pt x="239426" y="111162"/>
                  </a:lnTo>
                  <a:lnTo>
                    <a:pt x="237488" y="143108"/>
                  </a:lnTo>
                  <a:lnTo>
                    <a:pt x="238187" y="143737"/>
                  </a:lnTo>
                  <a:lnTo>
                    <a:pt x="240836" y="145875"/>
                  </a:lnTo>
                  <a:close/>
                </a:path>
                <a:path w="530860" h="470535">
                  <a:moveTo>
                    <a:pt x="103732" y="239073"/>
                  </a:moveTo>
                  <a:lnTo>
                    <a:pt x="43495" y="213316"/>
                  </a:lnTo>
                  <a:lnTo>
                    <a:pt x="14071" y="178519"/>
                  </a:lnTo>
                  <a:lnTo>
                    <a:pt x="0" y="136867"/>
                  </a:lnTo>
                  <a:lnTo>
                    <a:pt x="3419" y="116540"/>
                  </a:lnTo>
                  <a:lnTo>
                    <a:pt x="16955" y="102849"/>
                  </a:lnTo>
                  <a:lnTo>
                    <a:pt x="35785" y="98462"/>
                  </a:lnTo>
                  <a:lnTo>
                    <a:pt x="55085" y="106047"/>
                  </a:lnTo>
                  <a:lnTo>
                    <a:pt x="101772" y="143737"/>
                  </a:lnTo>
                  <a:lnTo>
                    <a:pt x="108355" y="145875"/>
                  </a:lnTo>
                  <a:lnTo>
                    <a:pt x="240836" y="145875"/>
                  </a:lnTo>
                  <a:lnTo>
                    <a:pt x="345496" y="230329"/>
                  </a:lnTo>
                  <a:lnTo>
                    <a:pt x="166807" y="230329"/>
                  </a:lnTo>
                  <a:lnTo>
                    <a:pt x="135827" y="238912"/>
                  </a:lnTo>
                  <a:lnTo>
                    <a:pt x="103732" y="239073"/>
                  </a:lnTo>
                  <a:close/>
                </a:path>
                <a:path w="530860" h="470535">
                  <a:moveTo>
                    <a:pt x="448137" y="469945"/>
                  </a:moveTo>
                  <a:lnTo>
                    <a:pt x="409658" y="467548"/>
                  </a:lnTo>
                  <a:lnTo>
                    <a:pt x="374115" y="449426"/>
                  </a:lnTo>
                  <a:lnTo>
                    <a:pt x="346178" y="412733"/>
                  </a:lnTo>
                  <a:lnTo>
                    <a:pt x="338527" y="370174"/>
                  </a:lnTo>
                  <a:lnTo>
                    <a:pt x="338448" y="368810"/>
                  </a:lnTo>
                  <a:lnTo>
                    <a:pt x="166807" y="230329"/>
                  </a:lnTo>
                  <a:lnTo>
                    <a:pt x="345496" y="230329"/>
                  </a:lnTo>
                  <a:lnTo>
                    <a:pt x="409125" y="281674"/>
                  </a:lnTo>
                  <a:lnTo>
                    <a:pt x="459446" y="281674"/>
                  </a:lnTo>
                  <a:lnTo>
                    <a:pt x="479439" y="289019"/>
                  </a:lnTo>
                  <a:lnTo>
                    <a:pt x="500205" y="303550"/>
                  </a:lnTo>
                  <a:lnTo>
                    <a:pt x="521207" y="331381"/>
                  </a:lnTo>
                  <a:lnTo>
                    <a:pt x="521814" y="333451"/>
                  </a:lnTo>
                  <a:lnTo>
                    <a:pt x="430517" y="333451"/>
                  </a:lnTo>
                  <a:lnTo>
                    <a:pt x="415343" y="338091"/>
                  </a:lnTo>
                  <a:lnTo>
                    <a:pt x="402674" y="348548"/>
                  </a:lnTo>
                  <a:lnTo>
                    <a:pt x="395076" y="363086"/>
                  </a:lnTo>
                  <a:lnTo>
                    <a:pt x="393700" y="378855"/>
                  </a:lnTo>
                  <a:lnTo>
                    <a:pt x="398347" y="393986"/>
                  </a:lnTo>
                  <a:lnTo>
                    <a:pt x="408819" y="406610"/>
                  </a:lnTo>
                  <a:lnTo>
                    <a:pt x="423395" y="414201"/>
                  </a:lnTo>
                  <a:lnTo>
                    <a:pt x="439207" y="415577"/>
                  </a:lnTo>
                  <a:lnTo>
                    <a:pt x="520500" y="415577"/>
                  </a:lnTo>
                  <a:lnTo>
                    <a:pt x="514091" y="429643"/>
                  </a:lnTo>
                  <a:lnTo>
                    <a:pt x="484599" y="457137"/>
                  </a:lnTo>
                  <a:lnTo>
                    <a:pt x="448137" y="469945"/>
                  </a:lnTo>
                  <a:close/>
                </a:path>
                <a:path w="530860" h="470535">
                  <a:moveTo>
                    <a:pt x="459446" y="281674"/>
                  </a:moveTo>
                  <a:lnTo>
                    <a:pt x="409125" y="281674"/>
                  </a:lnTo>
                  <a:lnTo>
                    <a:pt x="432732" y="278206"/>
                  </a:lnTo>
                  <a:lnTo>
                    <a:pt x="456559" y="280613"/>
                  </a:lnTo>
                  <a:lnTo>
                    <a:pt x="459446" y="281674"/>
                  </a:lnTo>
                  <a:close/>
                </a:path>
                <a:path w="530860" h="470535">
                  <a:moveTo>
                    <a:pt x="520500" y="415577"/>
                  </a:moveTo>
                  <a:lnTo>
                    <a:pt x="439207" y="415577"/>
                  </a:lnTo>
                  <a:lnTo>
                    <a:pt x="454384" y="410938"/>
                  </a:lnTo>
                  <a:lnTo>
                    <a:pt x="467053" y="400481"/>
                  </a:lnTo>
                  <a:lnTo>
                    <a:pt x="474651" y="385943"/>
                  </a:lnTo>
                  <a:lnTo>
                    <a:pt x="476024" y="370174"/>
                  </a:lnTo>
                  <a:lnTo>
                    <a:pt x="471371" y="355043"/>
                  </a:lnTo>
                  <a:lnTo>
                    <a:pt x="460886" y="342419"/>
                  </a:lnTo>
                  <a:lnTo>
                    <a:pt x="446323" y="334828"/>
                  </a:lnTo>
                  <a:lnTo>
                    <a:pt x="430517" y="333451"/>
                  </a:lnTo>
                  <a:lnTo>
                    <a:pt x="521814" y="333451"/>
                  </a:lnTo>
                  <a:lnTo>
                    <a:pt x="530781" y="364012"/>
                  </a:lnTo>
                  <a:lnTo>
                    <a:pt x="528539" y="397936"/>
                  </a:lnTo>
                  <a:lnTo>
                    <a:pt x="520500" y="415577"/>
                  </a:lnTo>
                  <a:close/>
                </a:path>
              </a:pathLst>
            </a:custGeom>
            <a:solidFill>
              <a:srgbClr val="CCC7B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8" name="object 18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513734" y="1999261"/>
              <a:ext cx="248156" cy="355308"/>
            </a:xfrm>
            <a:prstGeom prst="rect">
              <a:avLst/>
            </a:prstGeom>
          </p:spPr>
        </p:pic>
        <p:sp>
          <p:nvSpPr>
            <p:cNvPr id="19" name="object 19"/>
            <p:cNvSpPr/>
            <p:nvPr/>
          </p:nvSpPr>
          <p:spPr>
            <a:xfrm>
              <a:off x="3564555" y="1566436"/>
              <a:ext cx="506730" cy="505459"/>
            </a:xfrm>
            <a:custGeom>
              <a:avLst/>
              <a:gdLst/>
              <a:ahLst/>
              <a:cxnLst/>
              <a:rect l="l" t="t" r="r" b="b"/>
              <a:pathLst>
                <a:path w="506729" h="505460">
                  <a:moveTo>
                    <a:pt x="253339" y="505394"/>
                  </a:moveTo>
                  <a:lnTo>
                    <a:pt x="210981" y="501870"/>
                  </a:lnTo>
                  <a:lnTo>
                    <a:pt x="166713" y="490229"/>
                  </a:lnTo>
                  <a:lnTo>
                    <a:pt x="110963" y="461739"/>
                  </a:lnTo>
                  <a:lnTo>
                    <a:pt x="50528" y="404156"/>
                  </a:lnTo>
                  <a:lnTo>
                    <a:pt x="23324" y="358761"/>
                  </a:lnTo>
                  <a:lnTo>
                    <a:pt x="6048" y="307845"/>
                  </a:lnTo>
                  <a:lnTo>
                    <a:pt x="0" y="252708"/>
                  </a:lnTo>
                  <a:lnTo>
                    <a:pt x="3375" y="211368"/>
                  </a:lnTo>
                  <a:lnTo>
                    <a:pt x="13145" y="172177"/>
                  </a:lnTo>
                  <a:lnTo>
                    <a:pt x="28774" y="135665"/>
                  </a:lnTo>
                  <a:lnTo>
                    <a:pt x="49727" y="102361"/>
                  </a:lnTo>
                  <a:lnTo>
                    <a:pt x="97544" y="53424"/>
                  </a:lnTo>
                  <a:lnTo>
                    <a:pt x="157186" y="18866"/>
                  </a:lnTo>
                  <a:lnTo>
                    <a:pt x="203614" y="4869"/>
                  </a:lnTo>
                  <a:lnTo>
                    <a:pt x="253339" y="0"/>
                  </a:lnTo>
                  <a:lnTo>
                    <a:pt x="272257" y="695"/>
                  </a:lnTo>
                  <a:lnTo>
                    <a:pt x="326530" y="10731"/>
                  </a:lnTo>
                  <a:lnTo>
                    <a:pt x="376480" y="31812"/>
                  </a:lnTo>
                  <a:lnTo>
                    <a:pt x="432091" y="73620"/>
                  </a:lnTo>
                  <a:lnTo>
                    <a:pt x="464905" y="113618"/>
                  </a:lnTo>
                  <a:lnTo>
                    <a:pt x="489034" y="159837"/>
                  </a:lnTo>
                  <a:lnTo>
                    <a:pt x="503244" y="211048"/>
                  </a:lnTo>
                  <a:lnTo>
                    <a:pt x="506699" y="252708"/>
                  </a:lnTo>
                  <a:lnTo>
                    <a:pt x="506585" y="260302"/>
                  </a:lnTo>
                  <a:lnTo>
                    <a:pt x="495149" y="328311"/>
                  </a:lnTo>
                  <a:lnTo>
                    <a:pt x="477570" y="370433"/>
                  </a:lnTo>
                  <a:lnTo>
                    <a:pt x="452983" y="408296"/>
                  </a:lnTo>
                  <a:lnTo>
                    <a:pt x="422199" y="441091"/>
                  </a:lnTo>
                  <a:lnTo>
                    <a:pt x="386031" y="468009"/>
                  </a:lnTo>
                  <a:lnTo>
                    <a:pt x="345290" y="488239"/>
                  </a:lnTo>
                  <a:lnTo>
                    <a:pt x="300788" y="500970"/>
                  </a:lnTo>
                  <a:lnTo>
                    <a:pt x="253339" y="505394"/>
                  </a:lnTo>
                  <a:close/>
                </a:path>
              </a:pathLst>
            </a:custGeom>
            <a:solidFill>
              <a:srgbClr val="655E6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3631011" y="1632721"/>
              <a:ext cx="374015" cy="373380"/>
            </a:xfrm>
            <a:custGeom>
              <a:avLst/>
              <a:gdLst/>
              <a:ahLst/>
              <a:cxnLst/>
              <a:rect l="l" t="t" r="r" b="b"/>
              <a:pathLst>
                <a:path w="374014" h="373380">
                  <a:moveTo>
                    <a:pt x="186882" y="372824"/>
                  </a:moveTo>
                  <a:lnTo>
                    <a:pt x="137200" y="366166"/>
                  </a:lnTo>
                  <a:lnTo>
                    <a:pt x="92557" y="347376"/>
                  </a:lnTo>
                  <a:lnTo>
                    <a:pt x="54735" y="318230"/>
                  </a:lnTo>
                  <a:lnTo>
                    <a:pt x="25514" y="280505"/>
                  </a:lnTo>
                  <a:lnTo>
                    <a:pt x="6675" y="235977"/>
                  </a:lnTo>
                  <a:lnTo>
                    <a:pt x="0" y="186423"/>
                  </a:lnTo>
                  <a:lnTo>
                    <a:pt x="6675" y="136867"/>
                  </a:lnTo>
                  <a:lnTo>
                    <a:pt x="25514" y="92335"/>
                  </a:lnTo>
                  <a:lnTo>
                    <a:pt x="54735" y="54605"/>
                  </a:lnTo>
                  <a:lnTo>
                    <a:pt x="92557" y="25454"/>
                  </a:lnTo>
                  <a:lnTo>
                    <a:pt x="137200" y="6659"/>
                  </a:lnTo>
                  <a:lnTo>
                    <a:pt x="186882" y="0"/>
                  </a:lnTo>
                  <a:lnTo>
                    <a:pt x="236566" y="6659"/>
                  </a:lnTo>
                  <a:lnTo>
                    <a:pt x="281213" y="25454"/>
                  </a:lnTo>
                  <a:lnTo>
                    <a:pt x="319041" y="54605"/>
                  </a:lnTo>
                  <a:lnTo>
                    <a:pt x="348267" y="92335"/>
                  </a:lnTo>
                  <a:lnTo>
                    <a:pt x="367110" y="136867"/>
                  </a:lnTo>
                  <a:lnTo>
                    <a:pt x="373787" y="186423"/>
                  </a:lnTo>
                  <a:lnTo>
                    <a:pt x="367110" y="235977"/>
                  </a:lnTo>
                  <a:lnTo>
                    <a:pt x="348267" y="280505"/>
                  </a:lnTo>
                  <a:lnTo>
                    <a:pt x="319041" y="318230"/>
                  </a:lnTo>
                  <a:lnTo>
                    <a:pt x="281213" y="347376"/>
                  </a:lnTo>
                  <a:lnTo>
                    <a:pt x="236566" y="366166"/>
                  </a:lnTo>
                  <a:lnTo>
                    <a:pt x="186882" y="372824"/>
                  </a:lnTo>
                  <a:close/>
                </a:path>
              </a:pathLst>
            </a:custGeom>
            <a:solidFill>
              <a:srgbClr val="E7F1F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1" name="object 21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547761" y="2044392"/>
              <a:ext cx="214130" cy="310178"/>
            </a:xfrm>
            <a:prstGeom prst="rect">
              <a:avLst/>
            </a:prstGeom>
          </p:spPr>
        </p:pic>
        <p:pic>
          <p:nvPicPr>
            <p:cNvPr id="22" name="object 22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3680717" y="1698201"/>
              <a:ext cx="82962" cy="236652"/>
            </a:xfrm>
            <a:prstGeom prst="rect">
              <a:avLst/>
            </a:prstGeom>
          </p:spPr>
        </p:pic>
        <p:pic>
          <p:nvPicPr>
            <p:cNvPr id="23" name="object 23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7476307" y="4508774"/>
              <a:ext cx="1312749" cy="1076206"/>
            </a:xfrm>
            <a:prstGeom prst="rect">
              <a:avLst/>
            </a:prstGeom>
          </p:spPr>
        </p:pic>
        <p:sp>
          <p:nvSpPr>
            <p:cNvPr id="24" name="object 24"/>
            <p:cNvSpPr/>
            <p:nvPr/>
          </p:nvSpPr>
          <p:spPr>
            <a:xfrm>
              <a:off x="12025859" y="1349145"/>
              <a:ext cx="941069" cy="944880"/>
            </a:xfrm>
            <a:custGeom>
              <a:avLst/>
              <a:gdLst/>
              <a:ahLst/>
              <a:cxnLst/>
              <a:rect l="l" t="t" r="r" b="b"/>
              <a:pathLst>
                <a:path w="941070" h="944880">
                  <a:moveTo>
                    <a:pt x="251561" y="412623"/>
                  </a:moveTo>
                  <a:lnTo>
                    <a:pt x="250393" y="404850"/>
                  </a:lnTo>
                  <a:lnTo>
                    <a:pt x="247180" y="398183"/>
                  </a:lnTo>
                  <a:lnTo>
                    <a:pt x="242290" y="393166"/>
                  </a:lnTo>
                  <a:lnTo>
                    <a:pt x="236118" y="390347"/>
                  </a:lnTo>
                  <a:lnTo>
                    <a:pt x="235991" y="390347"/>
                  </a:lnTo>
                  <a:lnTo>
                    <a:pt x="234861" y="390067"/>
                  </a:lnTo>
                  <a:lnTo>
                    <a:pt x="233718" y="389940"/>
                  </a:lnTo>
                  <a:lnTo>
                    <a:pt x="100291" y="389940"/>
                  </a:lnTo>
                  <a:lnTo>
                    <a:pt x="93599" y="391579"/>
                  </a:lnTo>
                  <a:lnTo>
                    <a:pt x="88112" y="396024"/>
                  </a:lnTo>
                  <a:lnTo>
                    <a:pt x="84404" y="402615"/>
                  </a:lnTo>
                  <a:lnTo>
                    <a:pt x="83045" y="410679"/>
                  </a:lnTo>
                  <a:lnTo>
                    <a:pt x="83045" y="891146"/>
                  </a:lnTo>
                  <a:lnTo>
                    <a:pt x="126022" y="878433"/>
                  </a:lnTo>
                  <a:lnTo>
                    <a:pt x="168440" y="864120"/>
                  </a:lnTo>
                  <a:lnTo>
                    <a:pt x="210286" y="848220"/>
                  </a:lnTo>
                  <a:lnTo>
                    <a:pt x="251561" y="830745"/>
                  </a:lnTo>
                  <a:lnTo>
                    <a:pt x="251561" y="412623"/>
                  </a:lnTo>
                  <a:close/>
                </a:path>
                <a:path w="941070" h="944880">
                  <a:moveTo>
                    <a:pt x="424281" y="266496"/>
                  </a:moveTo>
                  <a:lnTo>
                    <a:pt x="420865" y="259092"/>
                  </a:lnTo>
                  <a:lnTo>
                    <a:pt x="415163" y="254774"/>
                  </a:lnTo>
                  <a:lnTo>
                    <a:pt x="412165" y="252412"/>
                  </a:lnTo>
                  <a:lnTo>
                    <a:pt x="408749" y="251206"/>
                  </a:lnTo>
                  <a:lnTo>
                    <a:pt x="404926" y="251167"/>
                  </a:lnTo>
                  <a:lnTo>
                    <a:pt x="273354" y="251167"/>
                  </a:lnTo>
                  <a:lnTo>
                    <a:pt x="266509" y="252857"/>
                  </a:lnTo>
                  <a:lnTo>
                    <a:pt x="260921" y="257454"/>
                  </a:lnTo>
                  <a:lnTo>
                    <a:pt x="257136" y="264287"/>
                  </a:lnTo>
                  <a:lnTo>
                    <a:pt x="255752" y="272630"/>
                  </a:lnTo>
                  <a:lnTo>
                    <a:pt x="255752" y="363766"/>
                  </a:lnTo>
                  <a:lnTo>
                    <a:pt x="267182" y="372351"/>
                  </a:lnTo>
                  <a:lnTo>
                    <a:pt x="275996" y="383819"/>
                  </a:lnTo>
                  <a:lnTo>
                    <a:pt x="281673" y="397471"/>
                  </a:lnTo>
                  <a:lnTo>
                    <a:pt x="283679" y="412623"/>
                  </a:lnTo>
                  <a:lnTo>
                    <a:pt x="283679" y="814400"/>
                  </a:lnTo>
                  <a:lnTo>
                    <a:pt x="322008" y="792721"/>
                  </a:lnTo>
                  <a:lnTo>
                    <a:pt x="358152" y="770826"/>
                  </a:lnTo>
                  <a:lnTo>
                    <a:pt x="392214" y="748665"/>
                  </a:lnTo>
                  <a:lnTo>
                    <a:pt x="424281" y="726160"/>
                  </a:lnTo>
                  <a:lnTo>
                    <a:pt x="424281" y="274523"/>
                  </a:lnTo>
                  <a:lnTo>
                    <a:pt x="424281" y="266496"/>
                  </a:lnTo>
                  <a:close/>
                </a:path>
                <a:path w="941070" h="944880">
                  <a:moveTo>
                    <a:pt x="631012" y="136601"/>
                  </a:moveTo>
                  <a:lnTo>
                    <a:pt x="611098" y="113931"/>
                  </a:lnTo>
                  <a:lnTo>
                    <a:pt x="608076" y="113944"/>
                  </a:lnTo>
                  <a:lnTo>
                    <a:pt x="463232" y="113944"/>
                  </a:lnTo>
                  <a:lnTo>
                    <a:pt x="442226" y="134670"/>
                  </a:lnTo>
                  <a:lnTo>
                    <a:pt x="442226" y="236220"/>
                  </a:lnTo>
                  <a:lnTo>
                    <a:pt x="448475" y="244792"/>
                  </a:lnTo>
                  <a:lnTo>
                    <a:pt x="452920" y="254038"/>
                  </a:lnTo>
                  <a:lnTo>
                    <a:pt x="455561" y="263944"/>
                  </a:lnTo>
                  <a:lnTo>
                    <a:pt x="456412" y="274523"/>
                  </a:lnTo>
                  <a:lnTo>
                    <a:pt x="456412" y="701738"/>
                  </a:lnTo>
                  <a:lnTo>
                    <a:pt x="462368" y="696976"/>
                  </a:lnTo>
                  <a:lnTo>
                    <a:pt x="468249" y="692188"/>
                  </a:lnTo>
                  <a:lnTo>
                    <a:pt x="474040" y="687387"/>
                  </a:lnTo>
                  <a:lnTo>
                    <a:pt x="479755" y="682561"/>
                  </a:lnTo>
                  <a:lnTo>
                    <a:pt x="479945" y="682421"/>
                  </a:lnTo>
                  <a:lnTo>
                    <a:pt x="515454" y="650900"/>
                  </a:lnTo>
                  <a:lnTo>
                    <a:pt x="552335" y="613930"/>
                  </a:lnTo>
                  <a:lnTo>
                    <a:pt x="590778" y="571258"/>
                  </a:lnTo>
                  <a:lnTo>
                    <a:pt x="631012" y="522655"/>
                  </a:lnTo>
                  <a:lnTo>
                    <a:pt x="631012" y="136601"/>
                  </a:lnTo>
                  <a:close/>
                </a:path>
                <a:path w="941070" h="944880">
                  <a:moveTo>
                    <a:pt x="764730" y="22669"/>
                  </a:moveTo>
                  <a:lnTo>
                    <a:pt x="763244" y="13855"/>
                  </a:lnTo>
                  <a:lnTo>
                    <a:pt x="759167" y="6654"/>
                  </a:lnTo>
                  <a:lnTo>
                    <a:pt x="753122" y="1790"/>
                  </a:lnTo>
                  <a:lnTo>
                    <a:pt x="745731" y="0"/>
                  </a:lnTo>
                  <a:lnTo>
                    <a:pt x="615581" y="0"/>
                  </a:lnTo>
                  <a:lnTo>
                    <a:pt x="608888" y="1638"/>
                  </a:lnTo>
                  <a:lnTo>
                    <a:pt x="603389" y="6083"/>
                  </a:lnTo>
                  <a:lnTo>
                    <a:pt x="599681" y="12661"/>
                  </a:lnTo>
                  <a:lnTo>
                    <a:pt x="598322" y="20726"/>
                  </a:lnTo>
                  <a:lnTo>
                    <a:pt x="598322" y="81762"/>
                  </a:lnTo>
                  <a:lnTo>
                    <a:pt x="611682" y="81749"/>
                  </a:lnTo>
                  <a:lnTo>
                    <a:pt x="615264" y="82105"/>
                  </a:lnTo>
                  <a:lnTo>
                    <a:pt x="649528" y="100330"/>
                  </a:lnTo>
                  <a:lnTo>
                    <a:pt x="663194" y="136601"/>
                  </a:lnTo>
                  <a:lnTo>
                    <a:pt x="663194" y="481076"/>
                  </a:lnTo>
                  <a:lnTo>
                    <a:pt x="679589" y="458431"/>
                  </a:lnTo>
                  <a:lnTo>
                    <a:pt x="695312" y="435356"/>
                  </a:lnTo>
                  <a:lnTo>
                    <a:pt x="710374" y="411848"/>
                  </a:lnTo>
                  <a:lnTo>
                    <a:pt x="724776" y="387883"/>
                  </a:lnTo>
                  <a:lnTo>
                    <a:pt x="673531" y="352640"/>
                  </a:lnTo>
                  <a:lnTo>
                    <a:pt x="671360" y="349478"/>
                  </a:lnTo>
                  <a:lnTo>
                    <a:pt x="670382" y="345478"/>
                  </a:lnTo>
                  <a:lnTo>
                    <a:pt x="669404" y="333844"/>
                  </a:lnTo>
                  <a:lnTo>
                    <a:pt x="672071" y="323024"/>
                  </a:lnTo>
                  <a:lnTo>
                    <a:pt x="678256" y="313359"/>
                  </a:lnTo>
                  <a:lnTo>
                    <a:pt x="687793" y="305193"/>
                  </a:lnTo>
                  <a:lnTo>
                    <a:pt x="764730" y="248818"/>
                  </a:lnTo>
                  <a:lnTo>
                    <a:pt x="764730" y="22669"/>
                  </a:lnTo>
                  <a:close/>
                </a:path>
                <a:path w="941070" h="944880">
                  <a:moveTo>
                    <a:pt x="940993" y="159575"/>
                  </a:moveTo>
                  <a:lnTo>
                    <a:pt x="706424" y="331444"/>
                  </a:lnTo>
                  <a:lnTo>
                    <a:pt x="705599" y="332016"/>
                  </a:lnTo>
                  <a:lnTo>
                    <a:pt x="704697" y="332574"/>
                  </a:lnTo>
                  <a:lnTo>
                    <a:pt x="703846" y="333184"/>
                  </a:lnTo>
                  <a:lnTo>
                    <a:pt x="703046" y="333870"/>
                  </a:lnTo>
                  <a:lnTo>
                    <a:pt x="758583" y="372033"/>
                  </a:lnTo>
                  <a:lnTo>
                    <a:pt x="760780" y="375234"/>
                  </a:lnTo>
                  <a:lnTo>
                    <a:pt x="762673" y="383336"/>
                  </a:lnTo>
                  <a:lnTo>
                    <a:pt x="762139" y="387172"/>
                  </a:lnTo>
                  <a:lnTo>
                    <a:pt x="760107" y="390804"/>
                  </a:lnTo>
                  <a:lnTo>
                    <a:pt x="720661" y="455333"/>
                  </a:lnTo>
                  <a:lnTo>
                    <a:pt x="698131" y="487819"/>
                  </a:lnTo>
                  <a:lnTo>
                    <a:pt x="673811" y="520306"/>
                  </a:lnTo>
                  <a:lnTo>
                    <a:pt x="636549" y="566889"/>
                  </a:lnTo>
                  <a:lnTo>
                    <a:pt x="600748" y="608698"/>
                  </a:lnTo>
                  <a:lnTo>
                    <a:pt x="566242" y="645896"/>
                  </a:lnTo>
                  <a:lnTo>
                    <a:pt x="532892" y="678637"/>
                  </a:lnTo>
                  <a:lnTo>
                    <a:pt x="500519" y="707110"/>
                  </a:lnTo>
                  <a:lnTo>
                    <a:pt x="463486" y="737006"/>
                  </a:lnTo>
                  <a:lnTo>
                    <a:pt x="450316" y="746937"/>
                  </a:lnTo>
                  <a:lnTo>
                    <a:pt x="449630" y="747445"/>
                  </a:lnTo>
                  <a:lnTo>
                    <a:pt x="410933" y="774839"/>
                  </a:lnTo>
                  <a:lnTo>
                    <a:pt x="369417" y="801712"/>
                  </a:lnTo>
                  <a:lnTo>
                    <a:pt x="324942" y="828167"/>
                  </a:lnTo>
                  <a:lnTo>
                    <a:pt x="277368" y="854316"/>
                  </a:lnTo>
                  <a:lnTo>
                    <a:pt x="274523" y="855649"/>
                  </a:lnTo>
                  <a:lnTo>
                    <a:pt x="274281" y="855776"/>
                  </a:lnTo>
                  <a:lnTo>
                    <a:pt x="224447" y="877176"/>
                  </a:lnTo>
                  <a:lnTo>
                    <a:pt x="174307" y="896162"/>
                  </a:lnTo>
                  <a:lnTo>
                    <a:pt x="123380" y="912952"/>
                  </a:lnTo>
                  <a:lnTo>
                    <a:pt x="71678" y="927519"/>
                  </a:lnTo>
                  <a:lnTo>
                    <a:pt x="17665" y="940371"/>
                  </a:lnTo>
                  <a:lnTo>
                    <a:pt x="0" y="944054"/>
                  </a:lnTo>
                  <a:lnTo>
                    <a:pt x="33096" y="944664"/>
                  </a:lnTo>
                  <a:lnTo>
                    <a:pt x="93281" y="943698"/>
                  </a:lnTo>
                  <a:lnTo>
                    <a:pt x="152184" y="939241"/>
                  </a:lnTo>
                  <a:lnTo>
                    <a:pt x="202742" y="932738"/>
                  </a:lnTo>
                  <a:lnTo>
                    <a:pt x="223685" y="928827"/>
                  </a:lnTo>
                  <a:lnTo>
                    <a:pt x="244970" y="924991"/>
                  </a:lnTo>
                  <a:lnTo>
                    <a:pt x="297103" y="912190"/>
                  </a:lnTo>
                  <a:lnTo>
                    <a:pt x="359892" y="892683"/>
                  </a:lnTo>
                  <a:lnTo>
                    <a:pt x="409448" y="873582"/>
                  </a:lnTo>
                  <a:lnTo>
                    <a:pt x="450596" y="854138"/>
                  </a:lnTo>
                  <a:lnTo>
                    <a:pt x="497459" y="828306"/>
                  </a:lnTo>
                  <a:lnTo>
                    <a:pt x="597814" y="758177"/>
                  </a:lnTo>
                  <a:lnTo>
                    <a:pt x="655193" y="709079"/>
                  </a:lnTo>
                  <a:lnTo>
                    <a:pt x="684136" y="679907"/>
                  </a:lnTo>
                  <a:lnTo>
                    <a:pt x="713536" y="647407"/>
                  </a:lnTo>
                  <a:lnTo>
                    <a:pt x="753046" y="600125"/>
                  </a:lnTo>
                  <a:lnTo>
                    <a:pt x="775817" y="569048"/>
                  </a:lnTo>
                  <a:lnTo>
                    <a:pt x="801268" y="532168"/>
                  </a:lnTo>
                  <a:lnTo>
                    <a:pt x="830021" y="488480"/>
                  </a:lnTo>
                  <a:lnTo>
                    <a:pt x="851014" y="451827"/>
                  </a:lnTo>
                  <a:lnTo>
                    <a:pt x="852055" y="449821"/>
                  </a:lnTo>
                  <a:lnTo>
                    <a:pt x="853465" y="448094"/>
                  </a:lnTo>
                  <a:lnTo>
                    <a:pt x="857008" y="445262"/>
                  </a:lnTo>
                  <a:lnTo>
                    <a:pt x="858989" y="444258"/>
                  </a:lnTo>
                  <a:lnTo>
                    <a:pt x="863384" y="443103"/>
                  </a:lnTo>
                  <a:lnTo>
                    <a:pt x="865606" y="442988"/>
                  </a:lnTo>
                  <a:lnTo>
                    <a:pt x="870089" y="443712"/>
                  </a:lnTo>
                  <a:lnTo>
                    <a:pt x="872159" y="444500"/>
                  </a:lnTo>
                  <a:lnTo>
                    <a:pt x="923480" y="477786"/>
                  </a:lnTo>
                  <a:lnTo>
                    <a:pt x="940993" y="159575"/>
                  </a:lnTo>
                  <a:close/>
                </a:path>
              </a:pathLst>
            </a:custGeom>
            <a:solidFill>
              <a:srgbClr val="FF313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5" name="object 25"/>
          <p:cNvSpPr txBox="1"/>
          <p:nvPr/>
        </p:nvSpPr>
        <p:spPr>
          <a:xfrm>
            <a:off x="3937366" y="1317277"/>
            <a:ext cx="1272117" cy="323102"/>
          </a:xfrm>
          <a:prstGeom prst="rect">
            <a:avLst/>
          </a:prstGeom>
        </p:spPr>
        <p:txBody>
          <a:bodyPr vert="horz" wrap="square" lIns="0" tIns="10160" rIns="0" bIns="0" rtlCol="0">
            <a:spAutoFit/>
          </a:bodyPr>
          <a:lstStyle/>
          <a:p>
            <a:pPr marL="8467">
              <a:spcBef>
                <a:spcPts val="80"/>
              </a:spcBef>
            </a:pPr>
            <a:r>
              <a:rPr lang="en-IN" sz="2033" b="1" u="sng" spc="-7" dirty="0">
                <a:solidFill>
                  <a:srgbClr val="004AAC"/>
                </a:solidFill>
                <a:latin typeface="Georgia"/>
                <a:cs typeface="Georgia"/>
              </a:rPr>
              <a:t>Financial</a:t>
            </a:r>
            <a:endParaRPr lang="en-IN" sz="2033" u="sng" dirty="0">
              <a:latin typeface="Georgia"/>
              <a:cs typeface="Georgia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6868729" y="1298607"/>
            <a:ext cx="989753" cy="323102"/>
          </a:xfrm>
          <a:prstGeom prst="rect">
            <a:avLst/>
          </a:prstGeom>
        </p:spPr>
        <p:txBody>
          <a:bodyPr vert="horz" wrap="square" lIns="0" tIns="10160" rIns="0" bIns="0" rtlCol="0">
            <a:spAutoFit/>
          </a:bodyPr>
          <a:lstStyle/>
          <a:p>
            <a:pPr marL="8467">
              <a:spcBef>
                <a:spcPts val="80"/>
              </a:spcBef>
            </a:pPr>
            <a:r>
              <a:rPr sz="2033" b="1" u="sng" spc="-7" dirty="0">
                <a:solidFill>
                  <a:srgbClr val="004AAC"/>
                </a:solidFill>
                <a:latin typeface="Georgia"/>
                <a:cs typeface="Georgia"/>
              </a:rPr>
              <a:t>Market</a:t>
            </a:r>
            <a:endParaRPr sz="2033" u="sng" dirty="0">
              <a:latin typeface="Georgia"/>
              <a:cs typeface="Georgia"/>
            </a:endParaRPr>
          </a:p>
        </p:txBody>
      </p:sp>
      <p:grpSp>
        <p:nvGrpSpPr>
          <p:cNvPr id="27" name="object 27"/>
          <p:cNvGrpSpPr/>
          <p:nvPr/>
        </p:nvGrpSpPr>
        <p:grpSpPr>
          <a:xfrm>
            <a:off x="3156652" y="1214523"/>
            <a:ext cx="8573010" cy="2503055"/>
            <a:chOff x="4734979" y="1821784"/>
            <a:chExt cx="12859515" cy="3754582"/>
          </a:xfrm>
        </p:grpSpPr>
        <p:pic>
          <p:nvPicPr>
            <p:cNvPr id="28" name="object 28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6570437" y="4227447"/>
              <a:ext cx="1024057" cy="1348919"/>
            </a:xfrm>
            <a:prstGeom prst="rect">
              <a:avLst/>
            </a:prstGeom>
          </p:spPr>
        </p:pic>
        <p:sp>
          <p:nvSpPr>
            <p:cNvPr id="29" name="object 29"/>
            <p:cNvSpPr/>
            <p:nvPr/>
          </p:nvSpPr>
          <p:spPr>
            <a:xfrm>
              <a:off x="4734979" y="1830437"/>
              <a:ext cx="48260" cy="3218180"/>
            </a:xfrm>
            <a:custGeom>
              <a:avLst/>
              <a:gdLst/>
              <a:ahLst/>
              <a:cxnLst/>
              <a:rect l="l" t="t" r="r" b="b"/>
              <a:pathLst>
                <a:path w="48260" h="3218179">
                  <a:moveTo>
                    <a:pt x="29083" y="3132137"/>
                  </a:moveTo>
                  <a:lnTo>
                    <a:pt x="520" y="3131959"/>
                  </a:lnTo>
                  <a:lnTo>
                    <a:pt x="0" y="3217684"/>
                  </a:lnTo>
                  <a:lnTo>
                    <a:pt x="28575" y="3217862"/>
                  </a:lnTo>
                  <a:lnTo>
                    <a:pt x="29083" y="3132137"/>
                  </a:lnTo>
                  <a:close/>
                </a:path>
                <a:path w="48260" h="3218179">
                  <a:moveTo>
                    <a:pt x="29781" y="3017837"/>
                  </a:moveTo>
                  <a:lnTo>
                    <a:pt x="1206" y="3017672"/>
                  </a:lnTo>
                  <a:lnTo>
                    <a:pt x="685" y="3103397"/>
                  </a:lnTo>
                  <a:lnTo>
                    <a:pt x="29260" y="3103562"/>
                  </a:lnTo>
                  <a:lnTo>
                    <a:pt x="29781" y="3017837"/>
                  </a:lnTo>
                  <a:close/>
                </a:path>
                <a:path w="48260" h="3218179">
                  <a:moveTo>
                    <a:pt x="30480" y="2903537"/>
                  </a:moveTo>
                  <a:lnTo>
                    <a:pt x="1905" y="2903372"/>
                  </a:lnTo>
                  <a:lnTo>
                    <a:pt x="1384" y="2989097"/>
                  </a:lnTo>
                  <a:lnTo>
                    <a:pt x="29959" y="2989262"/>
                  </a:lnTo>
                  <a:lnTo>
                    <a:pt x="30480" y="2903537"/>
                  </a:lnTo>
                  <a:close/>
                </a:path>
                <a:path w="48260" h="3218179">
                  <a:moveTo>
                    <a:pt x="31165" y="2789250"/>
                  </a:moveTo>
                  <a:lnTo>
                    <a:pt x="2590" y="2789072"/>
                  </a:lnTo>
                  <a:lnTo>
                    <a:pt x="2070" y="2874797"/>
                  </a:lnTo>
                  <a:lnTo>
                    <a:pt x="30645" y="2874962"/>
                  </a:lnTo>
                  <a:lnTo>
                    <a:pt x="31165" y="2789250"/>
                  </a:lnTo>
                  <a:close/>
                </a:path>
                <a:path w="48260" h="3218179">
                  <a:moveTo>
                    <a:pt x="31864" y="2674950"/>
                  </a:moveTo>
                  <a:lnTo>
                    <a:pt x="3289" y="2674772"/>
                  </a:lnTo>
                  <a:lnTo>
                    <a:pt x="2768" y="2760497"/>
                  </a:lnTo>
                  <a:lnTo>
                    <a:pt x="31343" y="2760675"/>
                  </a:lnTo>
                  <a:lnTo>
                    <a:pt x="31864" y="2674950"/>
                  </a:lnTo>
                  <a:close/>
                </a:path>
                <a:path w="48260" h="3218179">
                  <a:moveTo>
                    <a:pt x="32550" y="2560650"/>
                  </a:moveTo>
                  <a:lnTo>
                    <a:pt x="3975" y="2560472"/>
                  </a:lnTo>
                  <a:lnTo>
                    <a:pt x="3467" y="2646197"/>
                  </a:lnTo>
                  <a:lnTo>
                    <a:pt x="32029" y="2646375"/>
                  </a:lnTo>
                  <a:lnTo>
                    <a:pt x="32550" y="2560650"/>
                  </a:lnTo>
                  <a:close/>
                </a:path>
                <a:path w="48260" h="3218179">
                  <a:moveTo>
                    <a:pt x="33248" y="2446350"/>
                  </a:moveTo>
                  <a:lnTo>
                    <a:pt x="4673" y="2446172"/>
                  </a:lnTo>
                  <a:lnTo>
                    <a:pt x="4152" y="2531897"/>
                  </a:lnTo>
                  <a:lnTo>
                    <a:pt x="32727" y="2532075"/>
                  </a:lnTo>
                  <a:lnTo>
                    <a:pt x="33248" y="2446350"/>
                  </a:lnTo>
                  <a:close/>
                </a:path>
                <a:path w="48260" h="3218179">
                  <a:moveTo>
                    <a:pt x="33947" y="2332050"/>
                  </a:moveTo>
                  <a:lnTo>
                    <a:pt x="5372" y="2331885"/>
                  </a:lnTo>
                  <a:lnTo>
                    <a:pt x="4851" y="2417597"/>
                  </a:lnTo>
                  <a:lnTo>
                    <a:pt x="33426" y="2417775"/>
                  </a:lnTo>
                  <a:lnTo>
                    <a:pt x="33947" y="2332050"/>
                  </a:lnTo>
                  <a:close/>
                </a:path>
                <a:path w="48260" h="3218179">
                  <a:moveTo>
                    <a:pt x="34632" y="2217750"/>
                  </a:moveTo>
                  <a:lnTo>
                    <a:pt x="6057" y="2217585"/>
                  </a:lnTo>
                  <a:lnTo>
                    <a:pt x="5537" y="2303310"/>
                  </a:lnTo>
                  <a:lnTo>
                    <a:pt x="34112" y="2303475"/>
                  </a:lnTo>
                  <a:lnTo>
                    <a:pt x="34632" y="2217750"/>
                  </a:lnTo>
                  <a:close/>
                </a:path>
                <a:path w="48260" h="3218179">
                  <a:moveTo>
                    <a:pt x="35331" y="2103462"/>
                  </a:moveTo>
                  <a:lnTo>
                    <a:pt x="6756" y="2103285"/>
                  </a:lnTo>
                  <a:lnTo>
                    <a:pt x="6235" y="2189010"/>
                  </a:lnTo>
                  <a:lnTo>
                    <a:pt x="34810" y="2189175"/>
                  </a:lnTo>
                  <a:lnTo>
                    <a:pt x="35331" y="2103462"/>
                  </a:lnTo>
                  <a:close/>
                </a:path>
                <a:path w="48260" h="3218179">
                  <a:moveTo>
                    <a:pt x="36017" y="1989162"/>
                  </a:moveTo>
                  <a:lnTo>
                    <a:pt x="7442" y="1988985"/>
                  </a:lnTo>
                  <a:lnTo>
                    <a:pt x="6921" y="2074710"/>
                  </a:lnTo>
                  <a:lnTo>
                    <a:pt x="35496" y="2074887"/>
                  </a:lnTo>
                  <a:lnTo>
                    <a:pt x="36017" y="1989162"/>
                  </a:lnTo>
                  <a:close/>
                </a:path>
                <a:path w="48260" h="3218179">
                  <a:moveTo>
                    <a:pt x="36715" y="1874862"/>
                  </a:moveTo>
                  <a:lnTo>
                    <a:pt x="8140" y="1874685"/>
                  </a:lnTo>
                  <a:lnTo>
                    <a:pt x="7620" y="1960410"/>
                  </a:lnTo>
                  <a:lnTo>
                    <a:pt x="36195" y="1960587"/>
                  </a:lnTo>
                  <a:lnTo>
                    <a:pt x="36715" y="1874862"/>
                  </a:lnTo>
                  <a:close/>
                </a:path>
                <a:path w="48260" h="3218179">
                  <a:moveTo>
                    <a:pt x="37414" y="1760562"/>
                  </a:moveTo>
                  <a:lnTo>
                    <a:pt x="8839" y="1760385"/>
                  </a:lnTo>
                  <a:lnTo>
                    <a:pt x="8318" y="1846110"/>
                  </a:lnTo>
                  <a:lnTo>
                    <a:pt x="36893" y="1846287"/>
                  </a:lnTo>
                  <a:lnTo>
                    <a:pt x="37414" y="1760562"/>
                  </a:lnTo>
                  <a:close/>
                </a:path>
                <a:path w="48260" h="3218179">
                  <a:moveTo>
                    <a:pt x="38100" y="1646262"/>
                  </a:moveTo>
                  <a:lnTo>
                    <a:pt x="9525" y="1646097"/>
                  </a:lnTo>
                  <a:lnTo>
                    <a:pt x="9004" y="1731810"/>
                  </a:lnTo>
                  <a:lnTo>
                    <a:pt x="37579" y="1731987"/>
                  </a:lnTo>
                  <a:lnTo>
                    <a:pt x="38100" y="1646262"/>
                  </a:lnTo>
                  <a:close/>
                </a:path>
                <a:path w="48260" h="3218179">
                  <a:moveTo>
                    <a:pt x="38798" y="1531962"/>
                  </a:moveTo>
                  <a:lnTo>
                    <a:pt x="10223" y="1531797"/>
                  </a:lnTo>
                  <a:lnTo>
                    <a:pt x="9702" y="1617522"/>
                  </a:lnTo>
                  <a:lnTo>
                    <a:pt x="38277" y="1617687"/>
                  </a:lnTo>
                  <a:lnTo>
                    <a:pt x="38798" y="1531962"/>
                  </a:lnTo>
                  <a:close/>
                </a:path>
                <a:path w="48260" h="3218179">
                  <a:moveTo>
                    <a:pt x="39484" y="1417675"/>
                  </a:moveTo>
                  <a:lnTo>
                    <a:pt x="10909" y="1417497"/>
                  </a:lnTo>
                  <a:lnTo>
                    <a:pt x="10388" y="1503222"/>
                  </a:lnTo>
                  <a:lnTo>
                    <a:pt x="38963" y="1503387"/>
                  </a:lnTo>
                  <a:lnTo>
                    <a:pt x="39484" y="1417675"/>
                  </a:lnTo>
                  <a:close/>
                </a:path>
                <a:path w="48260" h="3218179">
                  <a:moveTo>
                    <a:pt x="40182" y="1303375"/>
                  </a:moveTo>
                  <a:lnTo>
                    <a:pt x="11607" y="1303197"/>
                  </a:lnTo>
                  <a:lnTo>
                    <a:pt x="11087" y="1388922"/>
                  </a:lnTo>
                  <a:lnTo>
                    <a:pt x="39662" y="1389100"/>
                  </a:lnTo>
                  <a:lnTo>
                    <a:pt x="40182" y="1303375"/>
                  </a:lnTo>
                  <a:close/>
                </a:path>
                <a:path w="48260" h="3218179">
                  <a:moveTo>
                    <a:pt x="40881" y="1189075"/>
                  </a:moveTo>
                  <a:lnTo>
                    <a:pt x="12306" y="1188897"/>
                  </a:lnTo>
                  <a:lnTo>
                    <a:pt x="11785" y="1274622"/>
                  </a:lnTo>
                  <a:lnTo>
                    <a:pt x="40360" y="1274800"/>
                  </a:lnTo>
                  <a:lnTo>
                    <a:pt x="40881" y="1189075"/>
                  </a:lnTo>
                  <a:close/>
                </a:path>
                <a:path w="48260" h="3218179">
                  <a:moveTo>
                    <a:pt x="41567" y="1074775"/>
                  </a:moveTo>
                  <a:lnTo>
                    <a:pt x="12992" y="1074597"/>
                  </a:lnTo>
                  <a:lnTo>
                    <a:pt x="12471" y="1160322"/>
                  </a:lnTo>
                  <a:lnTo>
                    <a:pt x="41046" y="1160500"/>
                  </a:lnTo>
                  <a:lnTo>
                    <a:pt x="41567" y="1074775"/>
                  </a:lnTo>
                  <a:close/>
                </a:path>
                <a:path w="48260" h="3218179">
                  <a:moveTo>
                    <a:pt x="42265" y="960475"/>
                  </a:moveTo>
                  <a:lnTo>
                    <a:pt x="13690" y="960310"/>
                  </a:lnTo>
                  <a:lnTo>
                    <a:pt x="13169" y="1046022"/>
                  </a:lnTo>
                  <a:lnTo>
                    <a:pt x="41744" y="1046200"/>
                  </a:lnTo>
                  <a:lnTo>
                    <a:pt x="42265" y="960475"/>
                  </a:lnTo>
                  <a:close/>
                </a:path>
                <a:path w="48260" h="3218179">
                  <a:moveTo>
                    <a:pt x="42951" y="846175"/>
                  </a:moveTo>
                  <a:lnTo>
                    <a:pt x="14376" y="846010"/>
                  </a:lnTo>
                  <a:lnTo>
                    <a:pt x="13855" y="931735"/>
                  </a:lnTo>
                  <a:lnTo>
                    <a:pt x="42430" y="931900"/>
                  </a:lnTo>
                  <a:lnTo>
                    <a:pt x="42951" y="846175"/>
                  </a:lnTo>
                  <a:close/>
                </a:path>
                <a:path w="48260" h="3218179">
                  <a:moveTo>
                    <a:pt x="43649" y="731888"/>
                  </a:moveTo>
                  <a:lnTo>
                    <a:pt x="15074" y="731710"/>
                  </a:lnTo>
                  <a:lnTo>
                    <a:pt x="14554" y="817435"/>
                  </a:lnTo>
                  <a:lnTo>
                    <a:pt x="43129" y="817600"/>
                  </a:lnTo>
                  <a:lnTo>
                    <a:pt x="43649" y="731888"/>
                  </a:lnTo>
                  <a:close/>
                </a:path>
                <a:path w="48260" h="3218179">
                  <a:moveTo>
                    <a:pt x="44335" y="617588"/>
                  </a:moveTo>
                  <a:lnTo>
                    <a:pt x="15773" y="617410"/>
                  </a:lnTo>
                  <a:lnTo>
                    <a:pt x="15252" y="703135"/>
                  </a:lnTo>
                  <a:lnTo>
                    <a:pt x="43827" y="703313"/>
                  </a:lnTo>
                  <a:lnTo>
                    <a:pt x="44335" y="617588"/>
                  </a:lnTo>
                  <a:close/>
                </a:path>
                <a:path w="48260" h="3218179">
                  <a:moveTo>
                    <a:pt x="45034" y="503288"/>
                  </a:moveTo>
                  <a:lnTo>
                    <a:pt x="16459" y="503110"/>
                  </a:lnTo>
                  <a:lnTo>
                    <a:pt x="15938" y="588835"/>
                  </a:lnTo>
                  <a:lnTo>
                    <a:pt x="44513" y="589013"/>
                  </a:lnTo>
                  <a:lnTo>
                    <a:pt x="45034" y="503288"/>
                  </a:lnTo>
                  <a:close/>
                </a:path>
                <a:path w="48260" h="3218179">
                  <a:moveTo>
                    <a:pt x="45732" y="388988"/>
                  </a:moveTo>
                  <a:lnTo>
                    <a:pt x="17157" y="388810"/>
                  </a:lnTo>
                  <a:lnTo>
                    <a:pt x="16637" y="474535"/>
                  </a:lnTo>
                  <a:lnTo>
                    <a:pt x="45212" y="474713"/>
                  </a:lnTo>
                  <a:lnTo>
                    <a:pt x="45732" y="388988"/>
                  </a:lnTo>
                  <a:close/>
                </a:path>
                <a:path w="48260" h="3218179">
                  <a:moveTo>
                    <a:pt x="46418" y="274688"/>
                  </a:moveTo>
                  <a:lnTo>
                    <a:pt x="17843" y="274523"/>
                  </a:lnTo>
                  <a:lnTo>
                    <a:pt x="17322" y="360235"/>
                  </a:lnTo>
                  <a:lnTo>
                    <a:pt x="45897" y="360413"/>
                  </a:lnTo>
                  <a:lnTo>
                    <a:pt x="46418" y="274688"/>
                  </a:lnTo>
                  <a:close/>
                </a:path>
                <a:path w="48260" h="3218179">
                  <a:moveTo>
                    <a:pt x="47117" y="160388"/>
                  </a:moveTo>
                  <a:lnTo>
                    <a:pt x="18542" y="160223"/>
                  </a:lnTo>
                  <a:lnTo>
                    <a:pt x="18021" y="245948"/>
                  </a:lnTo>
                  <a:lnTo>
                    <a:pt x="46596" y="246113"/>
                  </a:lnTo>
                  <a:lnTo>
                    <a:pt x="47117" y="160388"/>
                  </a:lnTo>
                  <a:close/>
                </a:path>
                <a:path w="48260" h="3218179">
                  <a:moveTo>
                    <a:pt x="47802" y="46101"/>
                  </a:moveTo>
                  <a:lnTo>
                    <a:pt x="19227" y="45923"/>
                  </a:lnTo>
                  <a:lnTo>
                    <a:pt x="18719" y="131648"/>
                  </a:lnTo>
                  <a:lnTo>
                    <a:pt x="47294" y="131813"/>
                  </a:lnTo>
                  <a:lnTo>
                    <a:pt x="47802" y="46101"/>
                  </a:lnTo>
                  <a:close/>
                </a:path>
                <a:path w="48260" h="3218179">
                  <a:moveTo>
                    <a:pt x="48082" y="177"/>
                  </a:moveTo>
                  <a:lnTo>
                    <a:pt x="19507" y="0"/>
                  </a:lnTo>
                  <a:lnTo>
                    <a:pt x="19405" y="17348"/>
                  </a:lnTo>
                  <a:lnTo>
                    <a:pt x="47980" y="17526"/>
                  </a:lnTo>
                  <a:lnTo>
                    <a:pt x="48082" y="177"/>
                  </a:lnTo>
                  <a:close/>
                </a:path>
              </a:pathLst>
            </a:custGeom>
            <a:solidFill>
              <a:srgbClr val="006FB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9027668" y="1821784"/>
              <a:ext cx="4258945" cy="3227070"/>
            </a:xfrm>
            <a:custGeom>
              <a:avLst/>
              <a:gdLst/>
              <a:ahLst/>
              <a:cxnLst/>
              <a:rect l="l" t="t" r="r" b="b"/>
              <a:pathLst>
                <a:path w="4258944" h="3227070">
                  <a:moveTo>
                    <a:pt x="0" y="283222"/>
                  </a:moveTo>
                  <a:lnTo>
                    <a:pt x="0" y="3226447"/>
                  </a:lnTo>
                </a:path>
                <a:path w="4258944" h="3227070">
                  <a:moveTo>
                    <a:pt x="4258819" y="0"/>
                  </a:moveTo>
                  <a:lnTo>
                    <a:pt x="4258819" y="3226408"/>
                  </a:lnTo>
                </a:path>
              </a:pathLst>
            </a:custGeom>
            <a:ln w="28574">
              <a:solidFill>
                <a:srgbClr val="006FBF"/>
              </a:solidFill>
              <a:prstDash val="sys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2" name="object 32"/>
          <p:cNvSpPr txBox="1"/>
          <p:nvPr/>
        </p:nvSpPr>
        <p:spPr>
          <a:xfrm>
            <a:off x="479021" y="1303220"/>
            <a:ext cx="2553547" cy="1964127"/>
          </a:xfrm>
          <a:prstGeom prst="rect">
            <a:avLst/>
          </a:prstGeom>
        </p:spPr>
        <p:txBody>
          <a:bodyPr vert="horz" wrap="square" lIns="0" tIns="10160" rIns="0" bIns="0" rtlCol="0">
            <a:spAutoFit/>
          </a:bodyPr>
          <a:lstStyle/>
          <a:p>
            <a:pPr marL="422508">
              <a:spcBef>
                <a:spcPts val="80"/>
              </a:spcBef>
            </a:pPr>
            <a:r>
              <a:rPr sz="2033" b="1" u="sng" spc="-7" dirty="0">
                <a:solidFill>
                  <a:srgbClr val="004AAC"/>
                </a:solidFill>
                <a:latin typeface="Georgia"/>
                <a:cs typeface="Georgia"/>
              </a:rPr>
              <a:t>Technical</a:t>
            </a:r>
            <a:endParaRPr sz="2033" u="sng" dirty="0">
              <a:latin typeface="Georgia"/>
              <a:cs typeface="Georgia"/>
            </a:endParaRPr>
          </a:p>
          <a:p>
            <a:pPr marL="179917" marR="3387" indent="-171450">
              <a:lnSpc>
                <a:spcPct val="112500"/>
              </a:lnSpc>
              <a:spcBef>
                <a:spcPts val="707"/>
              </a:spcBef>
              <a:buFont typeface="Arial" panose="020B0604020202020204" pitchFamily="34" charset="0"/>
              <a:buChar char="•"/>
            </a:pPr>
            <a:r>
              <a:rPr lang="en-US" sz="1000" dirty="0">
                <a:latin typeface="Georgia"/>
                <a:cs typeface="Georgia"/>
              </a:rPr>
              <a:t>Proven web and networking technologies enable rapid development and deployment</a:t>
            </a:r>
            <a:r>
              <a:rPr sz="1000" spc="-7" dirty="0">
                <a:latin typeface="Georgia"/>
                <a:cs typeface="Georgia"/>
              </a:rPr>
              <a:t>.</a:t>
            </a:r>
            <a:endParaRPr sz="1000" dirty="0">
              <a:latin typeface="Georgia"/>
              <a:cs typeface="Georgia"/>
            </a:endParaRPr>
          </a:p>
          <a:p>
            <a:pPr marL="179917" marR="3387" indent="-171450">
              <a:lnSpc>
                <a:spcPct val="112500"/>
              </a:lnSpc>
              <a:buFont typeface="Arial" panose="020B0604020202020204" pitchFamily="34" charset="0"/>
              <a:buChar char="•"/>
            </a:pPr>
            <a:r>
              <a:rPr lang="en-US" sz="1000" dirty="0">
                <a:latin typeface="Georgia"/>
                <a:cs typeface="Georgia"/>
              </a:rPr>
              <a:t>Modular distributed architecture ensures reliable real-time communication between system components</a:t>
            </a:r>
            <a:r>
              <a:rPr sz="1000" spc="-7" dirty="0">
                <a:latin typeface="Georgia"/>
                <a:cs typeface="Georgia"/>
              </a:rPr>
              <a:t>.</a:t>
            </a:r>
            <a:endParaRPr sz="1000" dirty="0">
              <a:latin typeface="Georgia"/>
              <a:cs typeface="Georgia"/>
            </a:endParaRPr>
          </a:p>
          <a:p>
            <a:pPr marL="179917" marR="3387" indent="-171450">
              <a:lnSpc>
                <a:spcPct val="112500"/>
              </a:lnSpc>
              <a:buFont typeface="Arial" panose="020B0604020202020204" pitchFamily="34" charset="0"/>
              <a:buChar char="•"/>
              <a:tabLst>
                <a:tab pos="563485" algn="l"/>
                <a:tab pos="1333567" algn="l"/>
                <a:tab pos="1919066" algn="l"/>
              </a:tabLst>
            </a:pPr>
            <a:r>
              <a:rPr lang="en-US" sz="1000" dirty="0">
                <a:latin typeface="Georgia"/>
                <a:cs typeface="Georgia"/>
              </a:rPr>
              <a:t>Scalable design supports concurrent order processing, real-time updates, and performance monitoring.</a:t>
            </a:r>
            <a:endParaRPr sz="1000" dirty="0">
              <a:latin typeface="Georgia"/>
              <a:cs typeface="Georgia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3247960" y="1730722"/>
            <a:ext cx="2573961" cy="1411562"/>
          </a:xfrm>
          <a:prstGeom prst="rect">
            <a:avLst/>
          </a:prstGeom>
        </p:spPr>
        <p:txBody>
          <a:bodyPr vert="horz" wrap="square" lIns="0" tIns="8467" rIns="0" bIns="0" rtlCol="0">
            <a:spAutoFit/>
          </a:bodyPr>
          <a:lstStyle/>
          <a:p>
            <a:pPr marL="179917" marR="3387" indent="-171450" algn="just">
              <a:lnSpc>
                <a:spcPct val="112500"/>
              </a:lnSpc>
              <a:spcBef>
                <a:spcPts val="67"/>
              </a:spcBef>
              <a:buFont typeface="Arial" panose="020B0604020202020204" pitchFamily="34" charset="0"/>
              <a:buChar char="•"/>
            </a:pPr>
            <a:r>
              <a:rPr lang="en-US" sz="1000" dirty="0">
                <a:latin typeface="Georgia"/>
                <a:cs typeface="Georgia"/>
              </a:rPr>
              <a:t>Low development cost due to open-source frameworks and free development tools.</a:t>
            </a:r>
          </a:p>
          <a:p>
            <a:pPr marL="179917" marR="3387" indent="-171450" algn="just">
              <a:lnSpc>
                <a:spcPct val="112500"/>
              </a:lnSpc>
              <a:spcBef>
                <a:spcPts val="67"/>
              </a:spcBef>
              <a:buFont typeface="Arial" panose="020B0604020202020204" pitchFamily="34" charset="0"/>
              <a:buChar char="•"/>
            </a:pPr>
            <a:r>
              <a:rPr lang="en-US" sz="1000" dirty="0">
                <a:latin typeface="Georgia"/>
                <a:cs typeface="Georgia"/>
              </a:rPr>
              <a:t>Minimal infrastructure requirements as the system can run on local or cloud environments.</a:t>
            </a:r>
          </a:p>
          <a:p>
            <a:pPr marL="179917" marR="3387" indent="-171450" algn="just">
              <a:lnSpc>
                <a:spcPct val="112500"/>
              </a:lnSpc>
              <a:spcBef>
                <a:spcPts val="67"/>
              </a:spcBef>
              <a:buFont typeface="Arial" panose="020B0604020202020204" pitchFamily="34" charset="0"/>
              <a:buChar char="•"/>
            </a:pPr>
            <a:r>
              <a:rPr lang="en-US" sz="1000" spc="-7" dirty="0">
                <a:latin typeface="Georgia"/>
                <a:cs typeface="Georgia"/>
              </a:rPr>
              <a:t> </a:t>
            </a:r>
            <a:r>
              <a:rPr lang="en-US" sz="1000" dirty="0">
                <a:latin typeface="Georgia"/>
                <a:cs typeface="Georgia"/>
              </a:rPr>
              <a:t>Cost-effective scalability using modular architecture and optional cloud deployment.</a:t>
            </a:r>
          </a:p>
        </p:txBody>
      </p:sp>
      <p:sp>
        <p:nvSpPr>
          <p:cNvPr id="35" name="object 35"/>
          <p:cNvSpPr txBox="1"/>
          <p:nvPr/>
        </p:nvSpPr>
        <p:spPr>
          <a:xfrm>
            <a:off x="6040955" y="1821658"/>
            <a:ext cx="2553547" cy="1063775"/>
          </a:xfrm>
          <a:prstGeom prst="rect">
            <a:avLst/>
          </a:prstGeom>
        </p:spPr>
        <p:txBody>
          <a:bodyPr vert="horz" wrap="square" lIns="0" tIns="8467" rIns="0" bIns="0" rtlCol="0">
            <a:spAutoFit/>
          </a:bodyPr>
          <a:lstStyle/>
          <a:p>
            <a:pPr marL="179917" marR="3387" indent="-171450">
              <a:lnSpc>
                <a:spcPct val="112500"/>
              </a:lnSpc>
              <a:spcBef>
                <a:spcPts val="67"/>
              </a:spcBef>
              <a:buFont typeface="Arial" panose="020B0604020202020204" pitchFamily="34" charset="0"/>
              <a:buChar char="•"/>
            </a:pPr>
            <a:r>
              <a:rPr lang="en-US" sz="1000" dirty="0">
                <a:latin typeface="Georgia"/>
                <a:cs typeface="Georgia"/>
              </a:rPr>
              <a:t>Growing demand for real-time service platforms and efficient delivery systems.</a:t>
            </a:r>
          </a:p>
          <a:p>
            <a:pPr marL="179917" marR="3387" indent="-171450">
              <a:lnSpc>
                <a:spcPct val="112500"/>
              </a:lnSpc>
              <a:spcBef>
                <a:spcPts val="67"/>
              </a:spcBef>
              <a:buFont typeface="Arial" panose="020B0604020202020204" pitchFamily="34" charset="0"/>
              <a:buChar char="•"/>
            </a:pPr>
            <a:r>
              <a:rPr lang="en-US" sz="1000" dirty="0">
                <a:latin typeface="Georgia"/>
                <a:cs typeface="Georgia"/>
              </a:rPr>
              <a:t>Strong alignment with modern cloud-based and distributed application trends.</a:t>
            </a:r>
          </a:p>
          <a:p>
            <a:pPr marL="179917" marR="3387" indent="-171450">
              <a:lnSpc>
                <a:spcPct val="112500"/>
              </a:lnSpc>
              <a:spcBef>
                <a:spcPts val="67"/>
              </a:spcBef>
              <a:buFont typeface="Arial" panose="020B0604020202020204" pitchFamily="34" charset="0"/>
              <a:buChar char="•"/>
            </a:pPr>
            <a:r>
              <a:rPr lang="en-US" sz="1000" dirty="0">
                <a:latin typeface="Georgia"/>
                <a:cs typeface="Georgia"/>
              </a:rPr>
              <a:t>Wide applicability across food delivery, logistics, and real-time service industries.</a:t>
            </a:r>
          </a:p>
        </p:txBody>
      </p:sp>
      <p:sp>
        <p:nvSpPr>
          <p:cNvPr id="36" name="object 36"/>
          <p:cNvSpPr txBox="1"/>
          <p:nvPr/>
        </p:nvSpPr>
        <p:spPr>
          <a:xfrm>
            <a:off x="9016499" y="1251436"/>
            <a:ext cx="2744077" cy="1988237"/>
          </a:xfrm>
          <a:prstGeom prst="rect">
            <a:avLst/>
          </a:prstGeom>
        </p:spPr>
        <p:txBody>
          <a:bodyPr vert="horz" wrap="square" lIns="0" tIns="10160" rIns="0" bIns="0" rtlCol="0">
            <a:spAutoFit/>
          </a:bodyPr>
          <a:lstStyle/>
          <a:p>
            <a:pPr marL="706579">
              <a:spcBef>
                <a:spcPts val="80"/>
              </a:spcBef>
            </a:pPr>
            <a:r>
              <a:rPr sz="2033" b="1" u="sng" spc="-7" dirty="0">
                <a:solidFill>
                  <a:srgbClr val="004AAC"/>
                </a:solidFill>
                <a:latin typeface="Georgia"/>
                <a:cs typeface="Georgia"/>
              </a:rPr>
              <a:t>Operational</a:t>
            </a:r>
            <a:endParaRPr sz="2033" u="sng" dirty="0">
              <a:latin typeface="Georgia"/>
              <a:cs typeface="Georgia"/>
            </a:endParaRPr>
          </a:p>
          <a:p>
            <a:pPr marL="179917" marR="3387" indent="-171450">
              <a:lnSpc>
                <a:spcPct val="112500"/>
              </a:lnSpc>
              <a:spcBef>
                <a:spcPts val="1207"/>
              </a:spcBef>
              <a:buFont typeface="Arial" panose="020B0604020202020204" pitchFamily="34" charset="0"/>
              <a:buChar char="•"/>
            </a:pPr>
            <a:r>
              <a:rPr lang="en-US" sz="1000" dirty="0">
                <a:latin typeface="Georgia"/>
                <a:cs typeface="Georgia"/>
              </a:rPr>
              <a:t>Easy onboarding through a simple web-based dashboard interface.</a:t>
            </a:r>
          </a:p>
          <a:p>
            <a:pPr marL="179917" marR="3387" indent="-171450">
              <a:lnSpc>
                <a:spcPct val="112500"/>
              </a:lnSpc>
              <a:spcBef>
                <a:spcPts val="1207"/>
              </a:spcBef>
              <a:buFont typeface="Arial" panose="020B0604020202020204" pitchFamily="34" charset="0"/>
              <a:buChar char="•"/>
            </a:pPr>
            <a:r>
              <a:rPr lang="en-US" sz="1000" dirty="0">
                <a:latin typeface="Georgia"/>
                <a:cs typeface="Georgia"/>
              </a:rPr>
              <a:t>. Modular design enables easy deployment, testing, and maintenance.</a:t>
            </a:r>
          </a:p>
          <a:p>
            <a:pPr marL="179917" marR="3387" indent="-171450">
              <a:lnSpc>
                <a:spcPct val="112500"/>
              </a:lnSpc>
              <a:spcBef>
                <a:spcPts val="1207"/>
              </a:spcBef>
              <a:buFont typeface="Arial" panose="020B0604020202020204" pitchFamily="34" charset="0"/>
              <a:buChar char="•"/>
            </a:pPr>
            <a:r>
              <a:rPr lang="en-US" sz="1000" dirty="0">
                <a:latin typeface="Georgia"/>
                <a:cs typeface="Georgia"/>
              </a:rPr>
              <a:t>System monitoring and logs support smooth operation and troubleshooting.</a:t>
            </a:r>
          </a:p>
          <a:p>
            <a:pPr marL="8467" marR="3387">
              <a:lnSpc>
                <a:spcPct val="112500"/>
              </a:lnSpc>
            </a:pPr>
            <a:endParaRPr sz="1000" dirty="0">
              <a:latin typeface="Georgia"/>
              <a:cs typeface="Georgia"/>
            </a:endParaRPr>
          </a:p>
        </p:txBody>
      </p:sp>
      <p:sp>
        <p:nvSpPr>
          <p:cNvPr id="40" name="object 40"/>
          <p:cNvSpPr/>
          <p:nvPr/>
        </p:nvSpPr>
        <p:spPr>
          <a:xfrm>
            <a:off x="5397050" y="962257"/>
            <a:ext cx="1693757" cy="422063"/>
          </a:xfrm>
          <a:custGeom>
            <a:avLst/>
            <a:gdLst/>
            <a:ahLst/>
            <a:cxnLst/>
            <a:rect l="l" t="t" r="r" b="b"/>
            <a:pathLst>
              <a:path w="2540634" h="633094">
                <a:moveTo>
                  <a:pt x="2540305" y="632498"/>
                </a:moveTo>
                <a:lnTo>
                  <a:pt x="0" y="632498"/>
                </a:lnTo>
                <a:lnTo>
                  <a:pt x="0" y="0"/>
                </a:lnTo>
                <a:lnTo>
                  <a:pt x="2540305" y="0"/>
                </a:lnTo>
                <a:lnTo>
                  <a:pt x="2540305" y="632498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1" name="object 41"/>
          <p:cNvSpPr txBox="1"/>
          <p:nvPr/>
        </p:nvSpPr>
        <p:spPr>
          <a:xfrm>
            <a:off x="5492750" y="982886"/>
            <a:ext cx="1502410" cy="343748"/>
          </a:xfrm>
          <a:prstGeom prst="rect">
            <a:avLst/>
          </a:prstGeom>
        </p:spPr>
        <p:txBody>
          <a:bodyPr vert="horz" wrap="square" lIns="0" tIns="10160" rIns="0" bIns="0" rtlCol="0">
            <a:spAutoFit/>
          </a:bodyPr>
          <a:lstStyle/>
          <a:p>
            <a:pPr marL="8467">
              <a:spcBef>
                <a:spcPts val="80"/>
              </a:spcBef>
            </a:pPr>
            <a:r>
              <a:rPr sz="2167" b="1" u="sng" spc="-7" dirty="0">
                <a:solidFill>
                  <a:schemeClr val="tx2">
                    <a:lumMod val="75000"/>
                  </a:schemeClr>
                </a:solidFill>
                <a:latin typeface="Georgia"/>
                <a:cs typeface="Georgia"/>
              </a:rPr>
              <a:t>Feasibility</a:t>
            </a:r>
            <a:endParaRPr sz="2167" u="sng" dirty="0">
              <a:solidFill>
                <a:schemeClr val="tx2">
                  <a:lumMod val="75000"/>
                </a:schemeClr>
              </a:solidFill>
              <a:latin typeface="Georgia"/>
              <a:cs typeface="Georgia"/>
            </a:endParaRPr>
          </a:p>
        </p:txBody>
      </p:sp>
      <p:grpSp>
        <p:nvGrpSpPr>
          <p:cNvPr id="42" name="object 42"/>
          <p:cNvGrpSpPr/>
          <p:nvPr/>
        </p:nvGrpSpPr>
        <p:grpSpPr>
          <a:xfrm>
            <a:off x="298023" y="3761974"/>
            <a:ext cx="11591713" cy="2375323"/>
            <a:chOff x="447034" y="5642960"/>
            <a:chExt cx="17387570" cy="3562985"/>
          </a:xfrm>
        </p:grpSpPr>
        <p:sp>
          <p:nvSpPr>
            <p:cNvPr id="43" name="object 43"/>
            <p:cNvSpPr/>
            <p:nvPr/>
          </p:nvSpPr>
          <p:spPr>
            <a:xfrm>
              <a:off x="475609" y="5959214"/>
              <a:ext cx="8103234" cy="3218180"/>
            </a:xfrm>
            <a:custGeom>
              <a:avLst/>
              <a:gdLst/>
              <a:ahLst/>
              <a:cxnLst/>
              <a:rect l="l" t="t" r="r" b="b"/>
              <a:pathLst>
                <a:path w="8103234" h="3218179">
                  <a:moveTo>
                    <a:pt x="0" y="0"/>
                  </a:moveTo>
                  <a:lnTo>
                    <a:pt x="8103095" y="0"/>
                  </a:lnTo>
                  <a:lnTo>
                    <a:pt x="8103095" y="3217654"/>
                  </a:lnTo>
                  <a:lnTo>
                    <a:pt x="0" y="3217654"/>
                  </a:lnTo>
                  <a:lnTo>
                    <a:pt x="0" y="0"/>
                  </a:lnTo>
                  <a:close/>
                </a:path>
              </a:pathLst>
            </a:custGeom>
            <a:ln w="57149">
              <a:solidFill>
                <a:srgbClr val="004A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4" name="object 44"/>
            <p:cNvSpPr/>
            <p:nvPr/>
          </p:nvSpPr>
          <p:spPr>
            <a:xfrm>
              <a:off x="9702846" y="5949689"/>
              <a:ext cx="8103234" cy="3218180"/>
            </a:xfrm>
            <a:custGeom>
              <a:avLst/>
              <a:gdLst/>
              <a:ahLst/>
              <a:cxnLst/>
              <a:rect l="l" t="t" r="r" b="b"/>
              <a:pathLst>
                <a:path w="8103234" h="3218179">
                  <a:moveTo>
                    <a:pt x="0" y="0"/>
                  </a:moveTo>
                  <a:lnTo>
                    <a:pt x="8103095" y="0"/>
                  </a:lnTo>
                  <a:lnTo>
                    <a:pt x="8103095" y="3217654"/>
                  </a:lnTo>
                  <a:lnTo>
                    <a:pt x="0" y="3217654"/>
                  </a:lnTo>
                  <a:lnTo>
                    <a:pt x="0" y="0"/>
                  </a:lnTo>
                  <a:close/>
                </a:path>
              </a:pathLst>
            </a:custGeom>
            <a:ln w="57149">
              <a:solidFill>
                <a:srgbClr val="004A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5" name="object 45"/>
            <p:cNvSpPr/>
            <p:nvPr/>
          </p:nvSpPr>
          <p:spPr>
            <a:xfrm>
              <a:off x="3431400" y="5642960"/>
              <a:ext cx="2640330" cy="633095"/>
            </a:xfrm>
            <a:custGeom>
              <a:avLst/>
              <a:gdLst/>
              <a:ahLst/>
              <a:cxnLst/>
              <a:rect l="l" t="t" r="r" b="b"/>
              <a:pathLst>
                <a:path w="2640329" h="633095">
                  <a:moveTo>
                    <a:pt x="2640168" y="632498"/>
                  </a:moveTo>
                  <a:lnTo>
                    <a:pt x="0" y="632498"/>
                  </a:lnTo>
                  <a:lnTo>
                    <a:pt x="0" y="0"/>
                  </a:lnTo>
                  <a:lnTo>
                    <a:pt x="2640168" y="0"/>
                  </a:lnTo>
                  <a:lnTo>
                    <a:pt x="2640168" y="632498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6" name="object 46"/>
          <p:cNvSpPr txBox="1"/>
          <p:nvPr/>
        </p:nvSpPr>
        <p:spPr>
          <a:xfrm>
            <a:off x="2383299" y="3782603"/>
            <a:ext cx="1568873" cy="343748"/>
          </a:xfrm>
          <a:prstGeom prst="rect">
            <a:avLst/>
          </a:prstGeom>
        </p:spPr>
        <p:txBody>
          <a:bodyPr vert="horz" wrap="square" lIns="0" tIns="10160" rIns="0" bIns="0" rtlCol="0">
            <a:spAutoFit/>
          </a:bodyPr>
          <a:lstStyle/>
          <a:p>
            <a:pPr marL="8467">
              <a:spcBef>
                <a:spcPts val="80"/>
              </a:spcBef>
            </a:pPr>
            <a:r>
              <a:rPr sz="2167" b="1" u="sng" spc="-7" dirty="0">
                <a:solidFill>
                  <a:schemeClr val="tx2">
                    <a:lumMod val="75000"/>
                  </a:schemeClr>
                </a:solidFill>
                <a:latin typeface="Georgia"/>
                <a:cs typeface="Georgia"/>
              </a:rPr>
              <a:t>Challenges</a:t>
            </a:r>
            <a:endParaRPr sz="2167" u="sng" dirty="0">
              <a:solidFill>
                <a:schemeClr val="tx2">
                  <a:lumMod val="75000"/>
                </a:schemeClr>
              </a:solidFill>
              <a:latin typeface="Georgia"/>
              <a:cs typeface="Georgia"/>
            </a:endParaRPr>
          </a:p>
        </p:txBody>
      </p:sp>
      <p:sp>
        <p:nvSpPr>
          <p:cNvPr id="47" name="object 47"/>
          <p:cNvSpPr/>
          <p:nvPr/>
        </p:nvSpPr>
        <p:spPr>
          <a:xfrm>
            <a:off x="8488403" y="3761974"/>
            <a:ext cx="1634067" cy="422063"/>
          </a:xfrm>
          <a:custGeom>
            <a:avLst/>
            <a:gdLst/>
            <a:ahLst/>
            <a:cxnLst/>
            <a:rect l="l" t="t" r="r" b="b"/>
            <a:pathLst>
              <a:path w="2451100" h="633095">
                <a:moveTo>
                  <a:pt x="2450561" y="632498"/>
                </a:moveTo>
                <a:lnTo>
                  <a:pt x="0" y="632498"/>
                </a:lnTo>
                <a:lnTo>
                  <a:pt x="0" y="0"/>
                </a:lnTo>
                <a:lnTo>
                  <a:pt x="2450561" y="0"/>
                </a:lnTo>
                <a:lnTo>
                  <a:pt x="2450561" y="632498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8" name="object 48"/>
          <p:cNvSpPr txBox="1"/>
          <p:nvPr/>
        </p:nvSpPr>
        <p:spPr>
          <a:xfrm>
            <a:off x="8584102" y="3782603"/>
            <a:ext cx="1442297" cy="343748"/>
          </a:xfrm>
          <a:prstGeom prst="rect">
            <a:avLst/>
          </a:prstGeom>
        </p:spPr>
        <p:txBody>
          <a:bodyPr vert="horz" wrap="square" lIns="0" tIns="10160" rIns="0" bIns="0" rtlCol="0">
            <a:spAutoFit/>
          </a:bodyPr>
          <a:lstStyle/>
          <a:p>
            <a:pPr marL="8467">
              <a:spcBef>
                <a:spcPts val="80"/>
              </a:spcBef>
            </a:pPr>
            <a:r>
              <a:rPr sz="2167" b="1" u="sng" spc="-7" dirty="0">
                <a:solidFill>
                  <a:schemeClr val="tx2">
                    <a:lumMod val="75000"/>
                  </a:schemeClr>
                </a:solidFill>
                <a:latin typeface="Georgia"/>
                <a:cs typeface="Georgia"/>
              </a:rPr>
              <a:t>Strategies</a:t>
            </a:r>
            <a:endParaRPr sz="2167" u="sng" dirty="0">
              <a:solidFill>
                <a:schemeClr val="tx2">
                  <a:lumMod val="75000"/>
                </a:schemeClr>
              </a:solidFill>
              <a:latin typeface="Georgia"/>
              <a:cs typeface="Georgia"/>
            </a:endParaRPr>
          </a:p>
        </p:txBody>
      </p:sp>
      <p:grpSp>
        <p:nvGrpSpPr>
          <p:cNvPr id="49" name="object 49"/>
          <p:cNvGrpSpPr/>
          <p:nvPr/>
        </p:nvGrpSpPr>
        <p:grpSpPr>
          <a:xfrm>
            <a:off x="456796" y="4203601"/>
            <a:ext cx="6164580" cy="1750483"/>
            <a:chOff x="685194" y="6305400"/>
            <a:chExt cx="9246870" cy="2625725"/>
          </a:xfrm>
        </p:grpSpPr>
        <p:pic>
          <p:nvPicPr>
            <p:cNvPr id="50" name="object 50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9864770" y="6347188"/>
              <a:ext cx="66675" cy="66674"/>
            </a:xfrm>
            <a:prstGeom prst="rect">
              <a:avLst/>
            </a:prstGeom>
          </p:spPr>
        </p:pic>
        <p:pic>
          <p:nvPicPr>
            <p:cNvPr id="51" name="object 51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9864770" y="7090138"/>
              <a:ext cx="66675" cy="66674"/>
            </a:xfrm>
            <a:prstGeom prst="rect">
              <a:avLst/>
            </a:prstGeom>
          </p:spPr>
        </p:pic>
        <p:pic>
          <p:nvPicPr>
            <p:cNvPr id="52" name="object 52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9864770" y="7833088"/>
              <a:ext cx="66675" cy="66674"/>
            </a:xfrm>
            <a:prstGeom prst="rect">
              <a:avLst/>
            </a:prstGeom>
          </p:spPr>
        </p:pic>
        <p:pic>
          <p:nvPicPr>
            <p:cNvPr id="53" name="object 53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9864770" y="8576038"/>
              <a:ext cx="66675" cy="66674"/>
            </a:xfrm>
            <a:prstGeom prst="rect">
              <a:avLst/>
            </a:prstGeom>
          </p:spPr>
        </p:pic>
        <p:sp>
          <p:nvSpPr>
            <p:cNvPr id="54" name="object 54"/>
            <p:cNvSpPr/>
            <p:nvPr/>
          </p:nvSpPr>
          <p:spPr>
            <a:xfrm>
              <a:off x="8621653" y="6476850"/>
              <a:ext cx="824230" cy="0"/>
            </a:xfrm>
            <a:custGeom>
              <a:avLst/>
              <a:gdLst/>
              <a:ahLst/>
              <a:cxnLst/>
              <a:rect l="l" t="t" r="r" b="b"/>
              <a:pathLst>
                <a:path w="824229">
                  <a:moveTo>
                    <a:pt x="0" y="0"/>
                  </a:moveTo>
                  <a:lnTo>
                    <a:pt x="824017" y="0"/>
                  </a:lnTo>
                </a:path>
              </a:pathLst>
            </a:custGeom>
            <a:ln w="85724">
              <a:solidFill>
                <a:srgbClr val="0CBFD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5" name="object 55"/>
            <p:cNvSpPr/>
            <p:nvPr/>
          </p:nvSpPr>
          <p:spPr>
            <a:xfrm>
              <a:off x="9488533" y="6348262"/>
              <a:ext cx="171450" cy="257175"/>
            </a:xfrm>
            <a:custGeom>
              <a:avLst/>
              <a:gdLst/>
              <a:ahLst/>
              <a:cxnLst/>
              <a:rect l="l" t="t" r="r" b="b"/>
              <a:pathLst>
                <a:path w="171450" h="257175">
                  <a:moveTo>
                    <a:pt x="0" y="257174"/>
                  </a:moveTo>
                  <a:lnTo>
                    <a:pt x="0" y="0"/>
                  </a:lnTo>
                  <a:lnTo>
                    <a:pt x="171449" y="128587"/>
                  </a:lnTo>
                  <a:lnTo>
                    <a:pt x="0" y="257174"/>
                  </a:lnTo>
                  <a:close/>
                </a:path>
              </a:pathLst>
            </a:custGeom>
            <a:solidFill>
              <a:srgbClr val="0CBFDE">
                <a:alpha val="569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6" name="object 56"/>
            <p:cNvSpPr/>
            <p:nvPr/>
          </p:nvSpPr>
          <p:spPr>
            <a:xfrm>
              <a:off x="9488533" y="6348262"/>
              <a:ext cx="171450" cy="257175"/>
            </a:xfrm>
            <a:custGeom>
              <a:avLst/>
              <a:gdLst/>
              <a:ahLst/>
              <a:cxnLst/>
              <a:rect l="l" t="t" r="r" b="b"/>
              <a:pathLst>
                <a:path w="171450" h="257175">
                  <a:moveTo>
                    <a:pt x="0" y="0"/>
                  </a:moveTo>
                  <a:lnTo>
                    <a:pt x="171449" y="128587"/>
                  </a:lnTo>
                  <a:lnTo>
                    <a:pt x="0" y="257174"/>
                  </a:lnTo>
                  <a:lnTo>
                    <a:pt x="0" y="0"/>
                  </a:lnTo>
                  <a:close/>
                </a:path>
              </a:pathLst>
            </a:custGeom>
            <a:ln w="85724">
              <a:solidFill>
                <a:srgbClr val="0CBFD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7" name="object 57"/>
            <p:cNvSpPr/>
            <p:nvPr/>
          </p:nvSpPr>
          <p:spPr>
            <a:xfrm>
              <a:off x="8653744" y="7290196"/>
              <a:ext cx="779145" cy="0"/>
            </a:xfrm>
            <a:custGeom>
              <a:avLst/>
              <a:gdLst/>
              <a:ahLst/>
              <a:cxnLst/>
              <a:rect l="l" t="t" r="r" b="b"/>
              <a:pathLst>
                <a:path w="779145">
                  <a:moveTo>
                    <a:pt x="0" y="0"/>
                  </a:moveTo>
                  <a:lnTo>
                    <a:pt x="778922" y="0"/>
                  </a:lnTo>
                </a:path>
              </a:pathLst>
            </a:custGeom>
            <a:ln w="85724">
              <a:solidFill>
                <a:srgbClr val="0CBFD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8" name="object 58"/>
            <p:cNvSpPr/>
            <p:nvPr/>
          </p:nvSpPr>
          <p:spPr>
            <a:xfrm>
              <a:off x="9475528" y="7161608"/>
              <a:ext cx="171450" cy="257175"/>
            </a:xfrm>
            <a:custGeom>
              <a:avLst/>
              <a:gdLst/>
              <a:ahLst/>
              <a:cxnLst/>
              <a:rect l="l" t="t" r="r" b="b"/>
              <a:pathLst>
                <a:path w="171450" h="257175">
                  <a:moveTo>
                    <a:pt x="0" y="257174"/>
                  </a:moveTo>
                  <a:lnTo>
                    <a:pt x="0" y="0"/>
                  </a:lnTo>
                  <a:lnTo>
                    <a:pt x="171449" y="128587"/>
                  </a:lnTo>
                  <a:lnTo>
                    <a:pt x="0" y="257174"/>
                  </a:lnTo>
                  <a:close/>
                </a:path>
              </a:pathLst>
            </a:custGeom>
            <a:solidFill>
              <a:srgbClr val="0CBFDE">
                <a:alpha val="569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9" name="object 59"/>
            <p:cNvSpPr/>
            <p:nvPr/>
          </p:nvSpPr>
          <p:spPr>
            <a:xfrm>
              <a:off x="9475528" y="7161608"/>
              <a:ext cx="171450" cy="257175"/>
            </a:xfrm>
            <a:custGeom>
              <a:avLst/>
              <a:gdLst/>
              <a:ahLst/>
              <a:cxnLst/>
              <a:rect l="l" t="t" r="r" b="b"/>
              <a:pathLst>
                <a:path w="171450" h="257175">
                  <a:moveTo>
                    <a:pt x="0" y="0"/>
                  </a:moveTo>
                  <a:lnTo>
                    <a:pt x="171449" y="128587"/>
                  </a:lnTo>
                  <a:lnTo>
                    <a:pt x="0" y="257174"/>
                  </a:lnTo>
                  <a:lnTo>
                    <a:pt x="0" y="0"/>
                  </a:lnTo>
                  <a:close/>
                </a:path>
              </a:pathLst>
            </a:custGeom>
            <a:ln w="85724">
              <a:solidFill>
                <a:srgbClr val="0CBFD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0" name="object 60"/>
            <p:cNvSpPr/>
            <p:nvPr/>
          </p:nvSpPr>
          <p:spPr>
            <a:xfrm>
              <a:off x="8644201" y="8025927"/>
              <a:ext cx="779145" cy="0"/>
            </a:xfrm>
            <a:custGeom>
              <a:avLst/>
              <a:gdLst/>
              <a:ahLst/>
              <a:cxnLst/>
              <a:rect l="l" t="t" r="r" b="b"/>
              <a:pathLst>
                <a:path w="779145">
                  <a:moveTo>
                    <a:pt x="0" y="0"/>
                  </a:moveTo>
                  <a:lnTo>
                    <a:pt x="778922" y="0"/>
                  </a:lnTo>
                </a:path>
              </a:pathLst>
            </a:custGeom>
            <a:ln w="85724">
              <a:solidFill>
                <a:srgbClr val="0CBFD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1" name="object 61"/>
            <p:cNvSpPr/>
            <p:nvPr/>
          </p:nvSpPr>
          <p:spPr>
            <a:xfrm>
              <a:off x="9465986" y="7897340"/>
              <a:ext cx="171450" cy="257175"/>
            </a:xfrm>
            <a:custGeom>
              <a:avLst/>
              <a:gdLst/>
              <a:ahLst/>
              <a:cxnLst/>
              <a:rect l="l" t="t" r="r" b="b"/>
              <a:pathLst>
                <a:path w="171450" h="257175">
                  <a:moveTo>
                    <a:pt x="0" y="257174"/>
                  </a:moveTo>
                  <a:lnTo>
                    <a:pt x="0" y="0"/>
                  </a:lnTo>
                  <a:lnTo>
                    <a:pt x="171449" y="128587"/>
                  </a:lnTo>
                  <a:lnTo>
                    <a:pt x="0" y="257174"/>
                  </a:lnTo>
                  <a:close/>
                </a:path>
              </a:pathLst>
            </a:custGeom>
            <a:solidFill>
              <a:srgbClr val="0CBFDE">
                <a:alpha val="569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2" name="object 62"/>
            <p:cNvSpPr/>
            <p:nvPr/>
          </p:nvSpPr>
          <p:spPr>
            <a:xfrm>
              <a:off x="9465986" y="7897340"/>
              <a:ext cx="171450" cy="257175"/>
            </a:xfrm>
            <a:custGeom>
              <a:avLst/>
              <a:gdLst/>
              <a:ahLst/>
              <a:cxnLst/>
              <a:rect l="l" t="t" r="r" b="b"/>
              <a:pathLst>
                <a:path w="171450" h="257175">
                  <a:moveTo>
                    <a:pt x="0" y="0"/>
                  </a:moveTo>
                  <a:lnTo>
                    <a:pt x="171449" y="128587"/>
                  </a:lnTo>
                  <a:lnTo>
                    <a:pt x="0" y="257174"/>
                  </a:lnTo>
                  <a:lnTo>
                    <a:pt x="0" y="0"/>
                  </a:lnTo>
                  <a:close/>
                </a:path>
              </a:pathLst>
            </a:custGeom>
            <a:ln w="85724">
              <a:solidFill>
                <a:srgbClr val="0CBFD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3" name="object 63"/>
            <p:cNvSpPr/>
            <p:nvPr/>
          </p:nvSpPr>
          <p:spPr>
            <a:xfrm>
              <a:off x="8644201" y="8759352"/>
              <a:ext cx="779145" cy="0"/>
            </a:xfrm>
            <a:custGeom>
              <a:avLst/>
              <a:gdLst/>
              <a:ahLst/>
              <a:cxnLst/>
              <a:rect l="l" t="t" r="r" b="b"/>
              <a:pathLst>
                <a:path w="779145">
                  <a:moveTo>
                    <a:pt x="0" y="0"/>
                  </a:moveTo>
                  <a:lnTo>
                    <a:pt x="778922" y="0"/>
                  </a:lnTo>
                </a:path>
              </a:pathLst>
            </a:custGeom>
            <a:ln w="85724">
              <a:solidFill>
                <a:srgbClr val="0CBFD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4" name="object 64"/>
            <p:cNvSpPr/>
            <p:nvPr/>
          </p:nvSpPr>
          <p:spPr>
            <a:xfrm>
              <a:off x="9465986" y="8630765"/>
              <a:ext cx="171450" cy="257175"/>
            </a:xfrm>
            <a:custGeom>
              <a:avLst/>
              <a:gdLst/>
              <a:ahLst/>
              <a:cxnLst/>
              <a:rect l="l" t="t" r="r" b="b"/>
              <a:pathLst>
                <a:path w="171450" h="257175">
                  <a:moveTo>
                    <a:pt x="0" y="257174"/>
                  </a:moveTo>
                  <a:lnTo>
                    <a:pt x="0" y="0"/>
                  </a:lnTo>
                  <a:lnTo>
                    <a:pt x="171449" y="128587"/>
                  </a:lnTo>
                  <a:lnTo>
                    <a:pt x="0" y="257174"/>
                  </a:lnTo>
                  <a:close/>
                </a:path>
              </a:pathLst>
            </a:custGeom>
            <a:solidFill>
              <a:srgbClr val="0CBFDE">
                <a:alpha val="569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5" name="object 65"/>
            <p:cNvSpPr/>
            <p:nvPr/>
          </p:nvSpPr>
          <p:spPr>
            <a:xfrm>
              <a:off x="9465986" y="8630765"/>
              <a:ext cx="171450" cy="257175"/>
            </a:xfrm>
            <a:custGeom>
              <a:avLst/>
              <a:gdLst/>
              <a:ahLst/>
              <a:cxnLst/>
              <a:rect l="l" t="t" r="r" b="b"/>
              <a:pathLst>
                <a:path w="171450" h="257175">
                  <a:moveTo>
                    <a:pt x="0" y="0"/>
                  </a:moveTo>
                  <a:lnTo>
                    <a:pt x="171449" y="128587"/>
                  </a:lnTo>
                  <a:lnTo>
                    <a:pt x="0" y="257174"/>
                  </a:lnTo>
                  <a:lnTo>
                    <a:pt x="0" y="0"/>
                  </a:lnTo>
                  <a:close/>
                </a:path>
              </a:pathLst>
            </a:custGeom>
            <a:ln w="85724">
              <a:solidFill>
                <a:srgbClr val="0CBFD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6" name="object 66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685194" y="6502135"/>
              <a:ext cx="66675" cy="66674"/>
            </a:xfrm>
            <a:prstGeom prst="rect">
              <a:avLst/>
            </a:prstGeom>
          </p:spPr>
        </p:pic>
        <p:pic>
          <p:nvPicPr>
            <p:cNvPr id="67" name="object 67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685194" y="7054585"/>
              <a:ext cx="66675" cy="66674"/>
            </a:xfrm>
            <a:prstGeom prst="rect">
              <a:avLst/>
            </a:prstGeom>
          </p:spPr>
        </p:pic>
        <p:pic>
          <p:nvPicPr>
            <p:cNvPr id="68" name="object 68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685194" y="7607035"/>
              <a:ext cx="66675" cy="66674"/>
            </a:xfrm>
            <a:prstGeom prst="rect">
              <a:avLst/>
            </a:prstGeom>
          </p:spPr>
        </p:pic>
        <p:pic>
          <p:nvPicPr>
            <p:cNvPr id="69" name="object 69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685194" y="8159485"/>
              <a:ext cx="66675" cy="66674"/>
            </a:xfrm>
            <a:prstGeom prst="rect">
              <a:avLst/>
            </a:prstGeom>
          </p:spPr>
        </p:pic>
        <p:pic>
          <p:nvPicPr>
            <p:cNvPr id="70" name="object 70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685194" y="8711935"/>
              <a:ext cx="66675" cy="66674"/>
            </a:xfrm>
            <a:prstGeom prst="rect">
              <a:avLst/>
            </a:prstGeom>
          </p:spPr>
        </p:pic>
      </p:grpSp>
      <p:sp>
        <p:nvSpPr>
          <p:cNvPr id="71" name="object 71"/>
          <p:cNvSpPr txBox="1"/>
          <p:nvPr/>
        </p:nvSpPr>
        <p:spPr>
          <a:xfrm>
            <a:off x="6695146" y="4148190"/>
            <a:ext cx="4966123" cy="333319"/>
          </a:xfrm>
          <a:prstGeom prst="rect">
            <a:avLst/>
          </a:prstGeom>
        </p:spPr>
        <p:txBody>
          <a:bodyPr vert="horz" wrap="square" lIns="0" tIns="8467" rIns="0" bIns="0" rtlCol="0">
            <a:spAutoFit/>
          </a:bodyPr>
          <a:lstStyle/>
          <a:p>
            <a:pPr marL="8467" marR="3387">
              <a:lnSpc>
                <a:spcPct val="101600"/>
              </a:lnSpc>
              <a:spcBef>
                <a:spcPts val="67"/>
              </a:spcBef>
            </a:pPr>
            <a:r>
              <a:rPr sz="1067" b="1" dirty="0">
                <a:solidFill>
                  <a:srgbClr val="004AAC"/>
                </a:solidFill>
                <a:latin typeface="Georgia"/>
                <a:cs typeface="Georgia"/>
              </a:rPr>
              <a:t>Technical</a:t>
            </a:r>
            <a:r>
              <a:rPr sz="1067" b="1" spc="287" dirty="0">
                <a:solidFill>
                  <a:srgbClr val="004AAC"/>
                </a:solidFill>
                <a:latin typeface="Georgia"/>
                <a:cs typeface="Georgia"/>
              </a:rPr>
              <a:t> </a:t>
            </a:r>
            <a:r>
              <a:rPr sz="1067" b="1" dirty="0">
                <a:solidFill>
                  <a:srgbClr val="004AAC"/>
                </a:solidFill>
                <a:latin typeface="Georgia"/>
                <a:cs typeface="Georgia"/>
              </a:rPr>
              <a:t>-</a:t>
            </a:r>
            <a:r>
              <a:rPr sz="1067" b="1" spc="273" dirty="0">
                <a:solidFill>
                  <a:srgbClr val="004AAC"/>
                </a:solidFill>
                <a:latin typeface="Georgia"/>
                <a:cs typeface="Georgia"/>
              </a:rPr>
              <a:t> </a:t>
            </a:r>
            <a:r>
              <a:rPr lang="en-US" sz="1067" dirty="0">
                <a:latin typeface="Georgia"/>
                <a:cs typeface="Georgia"/>
              </a:rPr>
              <a:t>Use modular microservice architecture and scalable real-time communication to ensure reliability and performance</a:t>
            </a:r>
            <a:r>
              <a:rPr sz="1067" spc="-7" dirty="0">
                <a:latin typeface="Georgia"/>
                <a:cs typeface="Georgia"/>
              </a:rPr>
              <a:t>.</a:t>
            </a:r>
            <a:endParaRPr sz="1067" dirty="0">
              <a:latin typeface="Georgia"/>
              <a:cs typeface="Georgia"/>
            </a:endParaRPr>
          </a:p>
        </p:txBody>
      </p:sp>
      <p:sp>
        <p:nvSpPr>
          <p:cNvPr id="72" name="object 72"/>
          <p:cNvSpPr txBox="1"/>
          <p:nvPr/>
        </p:nvSpPr>
        <p:spPr>
          <a:xfrm>
            <a:off x="6695146" y="4643490"/>
            <a:ext cx="4966123" cy="333319"/>
          </a:xfrm>
          <a:prstGeom prst="rect">
            <a:avLst/>
          </a:prstGeom>
        </p:spPr>
        <p:txBody>
          <a:bodyPr vert="horz" wrap="square" lIns="0" tIns="8467" rIns="0" bIns="0" rtlCol="0">
            <a:spAutoFit/>
          </a:bodyPr>
          <a:lstStyle/>
          <a:p>
            <a:pPr marL="8467" marR="3387">
              <a:lnSpc>
                <a:spcPct val="101600"/>
              </a:lnSpc>
              <a:spcBef>
                <a:spcPts val="67"/>
              </a:spcBef>
            </a:pPr>
            <a:r>
              <a:rPr sz="1067" b="1" dirty="0">
                <a:solidFill>
                  <a:srgbClr val="004AAC"/>
                </a:solidFill>
                <a:latin typeface="Georgia"/>
                <a:cs typeface="Georgia"/>
              </a:rPr>
              <a:t>Financial</a:t>
            </a:r>
            <a:r>
              <a:rPr sz="1067" b="1" spc="150" dirty="0">
                <a:solidFill>
                  <a:srgbClr val="004AAC"/>
                </a:solidFill>
                <a:latin typeface="Georgia"/>
                <a:cs typeface="Georgia"/>
              </a:rPr>
              <a:t> </a:t>
            </a:r>
            <a:r>
              <a:rPr sz="1067" b="1" dirty="0">
                <a:solidFill>
                  <a:srgbClr val="004AAC"/>
                </a:solidFill>
                <a:latin typeface="Georgia"/>
                <a:cs typeface="Georgia"/>
              </a:rPr>
              <a:t>-</a:t>
            </a:r>
            <a:r>
              <a:rPr sz="1067" b="1" spc="136" dirty="0">
                <a:solidFill>
                  <a:srgbClr val="004AAC"/>
                </a:solidFill>
                <a:latin typeface="Georgia"/>
                <a:cs typeface="Georgia"/>
              </a:rPr>
              <a:t> </a:t>
            </a:r>
            <a:r>
              <a:rPr lang="en-US" sz="1067" dirty="0">
                <a:latin typeface="Georgia"/>
                <a:cs typeface="Georgia"/>
              </a:rPr>
              <a:t>Utilize open-source technologies and low-cost deployment options to minimize development and maintenance expenses</a:t>
            </a:r>
            <a:r>
              <a:rPr sz="1067" spc="-7" dirty="0">
                <a:latin typeface="Georgia"/>
                <a:cs typeface="Georgia"/>
              </a:rPr>
              <a:t>.</a:t>
            </a:r>
            <a:endParaRPr sz="1067" dirty="0">
              <a:latin typeface="Georgia"/>
              <a:cs typeface="Georgia"/>
            </a:endParaRPr>
          </a:p>
        </p:txBody>
      </p:sp>
      <p:sp>
        <p:nvSpPr>
          <p:cNvPr id="73" name="object 73"/>
          <p:cNvSpPr txBox="1"/>
          <p:nvPr/>
        </p:nvSpPr>
        <p:spPr>
          <a:xfrm>
            <a:off x="6695146" y="5138790"/>
            <a:ext cx="4966123" cy="333319"/>
          </a:xfrm>
          <a:prstGeom prst="rect">
            <a:avLst/>
          </a:prstGeom>
        </p:spPr>
        <p:txBody>
          <a:bodyPr vert="horz" wrap="square" lIns="0" tIns="8467" rIns="0" bIns="0" rtlCol="0">
            <a:spAutoFit/>
          </a:bodyPr>
          <a:lstStyle/>
          <a:p>
            <a:pPr marL="8467" marR="3387">
              <a:lnSpc>
                <a:spcPct val="101600"/>
              </a:lnSpc>
              <a:spcBef>
                <a:spcPts val="67"/>
              </a:spcBef>
            </a:pPr>
            <a:r>
              <a:rPr sz="1067" b="1" dirty="0">
                <a:solidFill>
                  <a:srgbClr val="004AAC"/>
                </a:solidFill>
                <a:latin typeface="Georgia"/>
                <a:cs typeface="Georgia"/>
              </a:rPr>
              <a:t>Market</a:t>
            </a:r>
            <a:r>
              <a:rPr sz="1067" b="1" spc="197" dirty="0">
                <a:solidFill>
                  <a:srgbClr val="004AAC"/>
                </a:solidFill>
                <a:latin typeface="Georgia"/>
                <a:cs typeface="Georgia"/>
              </a:rPr>
              <a:t> </a:t>
            </a:r>
            <a:r>
              <a:rPr sz="1067" b="1" dirty="0">
                <a:solidFill>
                  <a:srgbClr val="004AAC"/>
                </a:solidFill>
                <a:latin typeface="Georgia"/>
                <a:cs typeface="Georgia"/>
              </a:rPr>
              <a:t>-</a:t>
            </a:r>
            <a:r>
              <a:rPr sz="1067" b="1" spc="177" dirty="0">
                <a:solidFill>
                  <a:srgbClr val="004AAC"/>
                </a:solidFill>
                <a:latin typeface="Georgia"/>
                <a:cs typeface="Georgia"/>
              </a:rPr>
              <a:t> </a:t>
            </a:r>
            <a:r>
              <a:rPr lang="en-US" sz="1067" dirty="0">
                <a:latin typeface="Georgia"/>
                <a:cs typeface="Georgia"/>
              </a:rPr>
              <a:t>Align the system with real-time service and distributed application trends to demonstrate relevance in modern software systems</a:t>
            </a:r>
            <a:r>
              <a:rPr sz="1067" spc="-7" dirty="0">
                <a:latin typeface="Georgia"/>
                <a:cs typeface="Georgia"/>
              </a:rPr>
              <a:t>.</a:t>
            </a:r>
            <a:endParaRPr sz="1067" dirty="0">
              <a:latin typeface="Georgia"/>
              <a:cs typeface="Georgia"/>
            </a:endParaRPr>
          </a:p>
        </p:txBody>
      </p:sp>
      <p:sp>
        <p:nvSpPr>
          <p:cNvPr id="75" name="object 75"/>
          <p:cNvSpPr txBox="1"/>
          <p:nvPr/>
        </p:nvSpPr>
        <p:spPr>
          <a:xfrm>
            <a:off x="583564" y="4241899"/>
            <a:ext cx="4730327" cy="1863267"/>
          </a:xfrm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8467" marR="3387">
              <a:lnSpc>
                <a:spcPct val="100699"/>
              </a:lnSpc>
              <a:spcBef>
                <a:spcPts val="70"/>
              </a:spcBef>
            </a:pPr>
            <a:r>
              <a:rPr lang="en-IN" sz="1200" b="1" dirty="0">
                <a:solidFill>
                  <a:srgbClr val="004AAC"/>
                </a:solidFill>
                <a:latin typeface="Georgia"/>
                <a:cs typeface="Georgia"/>
              </a:rPr>
              <a:t>Concurrency Management</a:t>
            </a:r>
            <a:r>
              <a:rPr sz="1200" dirty="0">
                <a:solidFill>
                  <a:srgbClr val="004AAC"/>
                </a:solidFill>
                <a:latin typeface="Georgia"/>
                <a:cs typeface="Georgia"/>
              </a:rPr>
              <a:t>:</a:t>
            </a:r>
            <a:r>
              <a:rPr sz="1200" spc="240" dirty="0">
                <a:solidFill>
                  <a:srgbClr val="004AAC"/>
                </a:solidFill>
                <a:latin typeface="Georgia"/>
                <a:cs typeface="Georgia"/>
              </a:rPr>
              <a:t> </a:t>
            </a:r>
            <a:r>
              <a:rPr lang="en-US" sz="1200" dirty="0"/>
              <a:t>Handling multiple orders simultaneously without conflicts</a:t>
            </a:r>
            <a:r>
              <a:rPr sz="1200" spc="-7" dirty="0">
                <a:latin typeface="Georgia"/>
                <a:cs typeface="Georgia"/>
              </a:rPr>
              <a:t>.</a:t>
            </a:r>
            <a:endParaRPr sz="1200" dirty="0">
              <a:latin typeface="Georgia"/>
              <a:cs typeface="Georgia"/>
            </a:endParaRPr>
          </a:p>
          <a:p>
            <a:pPr marL="8467" marR="3387">
              <a:lnSpc>
                <a:spcPct val="100699"/>
              </a:lnSpc>
            </a:pPr>
            <a:r>
              <a:rPr lang="en-IN" sz="1200" b="1" dirty="0">
                <a:solidFill>
                  <a:srgbClr val="004AAC"/>
                </a:solidFill>
                <a:latin typeface="Georgia"/>
                <a:cs typeface="Georgia"/>
              </a:rPr>
              <a:t>Synchronization Issues</a:t>
            </a:r>
            <a:r>
              <a:rPr sz="1200" b="1" dirty="0">
                <a:solidFill>
                  <a:srgbClr val="004AAC"/>
                </a:solidFill>
                <a:latin typeface="Georgia"/>
                <a:cs typeface="Georgia"/>
              </a:rPr>
              <a:t>:</a:t>
            </a:r>
            <a:r>
              <a:rPr sz="1200" b="1" spc="143" dirty="0">
                <a:solidFill>
                  <a:srgbClr val="004AAC"/>
                </a:solidFill>
                <a:latin typeface="Georgia"/>
                <a:cs typeface="Georgia"/>
              </a:rPr>
              <a:t> </a:t>
            </a:r>
            <a:r>
              <a:rPr lang="en-US" sz="1200" dirty="0"/>
              <a:t>Preventing race conditions while updating shared order data</a:t>
            </a:r>
            <a:r>
              <a:rPr sz="1200" spc="-7" dirty="0">
                <a:latin typeface="Georgia"/>
                <a:cs typeface="Georgia"/>
              </a:rPr>
              <a:t>.</a:t>
            </a:r>
            <a:endParaRPr sz="1200" dirty="0">
              <a:latin typeface="Georgia"/>
              <a:cs typeface="Georgia"/>
            </a:endParaRPr>
          </a:p>
          <a:p>
            <a:pPr marL="8467" marR="3387">
              <a:lnSpc>
                <a:spcPct val="100699"/>
              </a:lnSpc>
            </a:pPr>
            <a:r>
              <a:rPr lang="en-IN" sz="1200" b="1" dirty="0">
                <a:solidFill>
                  <a:srgbClr val="004AAC"/>
                </a:solidFill>
                <a:latin typeface="Georgia"/>
                <a:cs typeface="Georgia"/>
              </a:rPr>
              <a:t>Real-Time Communication</a:t>
            </a:r>
            <a:r>
              <a:rPr sz="1200" b="1" dirty="0">
                <a:solidFill>
                  <a:srgbClr val="004AAC"/>
                </a:solidFill>
                <a:latin typeface="Georgia"/>
                <a:cs typeface="Georgia"/>
              </a:rPr>
              <a:t>:</a:t>
            </a:r>
            <a:r>
              <a:rPr sz="1200" b="1" spc="330" dirty="0">
                <a:solidFill>
                  <a:srgbClr val="004AAC"/>
                </a:solidFill>
                <a:latin typeface="Georgia"/>
                <a:cs typeface="Georgia"/>
              </a:rPr>
              <a:t> </a:t>
            </a:r>
            <a:r>
              <a:rPr lang="en-US" sz="1200" dirty="0"/>
              <a:t>Ensuring stable WebSocket connections for live updates</a:t>
            </a:r>
            <a:r>
              <a:rPr sz="1200" spc="-7" dirty="0">
                <a:latin typeface="Georgia"/>
                <a:cs typeface="Georgia"/>
              </a:rPr>
              <a:t>.</a:t>
            </a:r>
            <a:endParaRPr sz="1200" dirty="0">
              <a:latin typeface="Georgia"/>
              <a:cs typeface="Georgia"/>
            </a:endParaRPr>
          </a:p>
          <a:p>
            <a:pPr marL="8467" marR="3387">
              <a:lnSpc>
                <a:spcPct val="100699"/>
              </a:lnSpc>
            </a:pPr>
            <a:r>
              <a:rPr lang="en-IN" sz="1200" b="1" dirty="0">
                <a:solidFill>
                  <a:srgbClr val="004AAC"/>
                </a:solidFill>
                <a:latin typeface="Georgia"/>
                <a:cs typeface="Georgia"/>
              </a:rPr>
              <a:t>System Scalability</a:t>
            </a:r>
            <a:r>
              <a:rPr sz="1200" b="1" dirty="0">
                <a:solidFill>
                  <a:srgbClr val="004AAC"/>
                </a:solidFill>
                <a:latin typeface="Georgia"/>
                <a:cs typeface="Georgia"/>
              </a:rPr>
              <a:t>:</a:t>
            </a:r>
            <a:r>
              <a:rPr sz="1200" b="1" spc="93" dirty="0">
                <a:solidFill>
                  <a:srgbClr val="004AAC"/>
                </a:solidFill>
                <a:latin typeface="Georgia"/>
                <a:cs typeface="Georgia"/>
              </a:rPr>
              <a:t> </a:t>
            </a:r>
            <a:r>
              <a:rPr lang="en-US" sz="1200" dirty="0">
                <a:latin typeface="Georgia"/>
                <a:cs typeface="Georgia"/>
              </a:rPr>
              <a:t>Maintaining performance as the number of users and orders increases</a:t>
            </a:r>
            <a:r>
              <a:rPr sz="1200" spc="-13" dirty="0">
                <a:latin typeface="Georgia"/>
                <a:cs typeface="Georgia"/>
              </a:rPr>
              <a:t>.</a:t>
            </a:r>
            <a:endParaRPr sz="1200" dirty="0">
              <a:latin typeface="Georgia"/>
              <a:cs typeface="Georgia"/>
            </a:endParaRPr>
          </a:p>
          <a:p>
            <a:pPr marL="8467" marR="3387">
              <a:lnSpc>
                <a:spcPct val="100699"/>
              </a:lnSpc>
              <a:tabLst>
                <a:tab pos="699382" algn="l"/>
                <a:tab pos="923336" algn="l"/>
                <a:tab pos="1737447" algn="l"/>
                <a:tab pos="2736139" algn="l"/>
                <a:tab pos="3428325" algn="l"/>
                <a:tab pos="3993503" algn="l"/>
                <a:tab pos="4389339" algn="l"/>
              </a:tabLst>
            </a:pPr>
            <a:r>
              <a:rPr lang="en-IN" sz="1200" b="1" spc="-7" dirty="0">
                <a:solidFill>
                  <a:srgbClr val="004AAC"/>
                </a:solidFill>
                <a:latin typeface="Georgia"/>
                <a:cs typeface="Georgia"/>
              </a:rPr>
              <a:t>Security &amp; Data Integrity</a:t>
            </a:r>
            <a:r>
              <a:rPr sz="1200" b="1" spc="-7" dirty="0">
                <a:solidFill>
                  <a:srgbClr val="004AAC"/>
                </a:solidFill>
                <a:latin typeface="Georgia"/>
                <a:cs typeface="Georgia"/>
              </a:rPr>
              <a:t>:</a:t>
            </a:r>
            <a:r>
              <a:rPr lang="en-US" sz="1200" spc="-7" dirty="0">
                <a:latin typeface="Georgia"/>
                <a:cs typeface="Georgia"/>
              </a:rPr>
              <a:t>Protecting order data and ensuring reliable communication.</a:t>
            </a:r>
            <a:endParaRPr sz="1200" dirty="0">
              <a:latin typeface="Georgia"/>
              <a:cs typeface="Georgia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0A10376-2D0C-FC21-A4B0-DD4B5A933487}"/>
              </a:ext>
            </a:extLst>
          </p:cNvPr>
          <p:cNvSpPr txBox="1"/>
          <p:nvPr/>
        </p:nvSpPr>
        <p:spPr>
          <a:xfrm>
            <a:off x="6576513" y="5595998"/>
            <a:ext cx="609600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070" b="1" dirty="0">
                <a:solidFill>
                  <a:srgbClr val="004AAC"/>
                </a:solidFill>
                <a:latin typeface="Georgia"/>
                <a:cs typeface="Georgia"/>
              </a:rPr>
              <a:t>Operational - </a:t>
            </a:r>
            <a:r>
              <a:rPr lang="en-US" sz="1100" dirty="0">
                <a:latin typeface="Georgia"/>
                <a:cs typeface="Georgia"/>
              </a:rPr>
              <a:t>Provide an intuitive dashboard, monitoring tools, and clear system logs to ensure smooth usage and easy maintenance.</a:t>
            </a:r>
            <a:endParaRPr lang="en-IN" sz="107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Picture 20">
            <a:extLst>
              <a:ext uri="{FF2B5EF4-FFF2-40B4-BE49-F238E27FC236}">
                <a16:creationId xmlns:a16="http://schemas.microsoft.com/office/drawing/2014/main" id="{7EC72B11-53E8-EE94-82C6-8F4C0F99B40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227523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11489101" y="6424085"/>
            <a:ext cx="102023" cy="193216"/>
          </a:xfrm>
          <a:prstGeom prst="rect">
            <a:avLst/>
          </a:prstGeom>
        </p:spPr>
        <p:txBody>
          <a:bodyPr vert="horz" wrap="square" lIns="0" tIns="8467" rIns="0" bIns="0" rtlCol="0">
            <a:spAutoFit/>
          </a:bodyPr>
          <a:lstStyle/>
          <a:p>
            <a:pPr marL="8467">
              <a:spcBef>
                <a:spcPts val="67"/>
              </a:spcBef>
            </a:pPr>
            <a:r>
              <a:rPr sz="1200" b="1" spc="-33" dirty="0">
                <a:solidFill>
                  <a:srgbClr val="FFFFFF"/>
                </a:solidFill>
                <a:latin typeface="Arial"/>
                <a:cs typeface="Arial"/>
              </a:rPr>
              <a:t>5</a:t>
            </a:r>
            <a:endParaRPr sz="12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101299" y="6424085"/>
            <a:ext cx="2297853" cy="193216"/>
          </a:xfrm>
          <a:prstGeom prst="rect">
            <a:avLst/>
          </a:prstGeom>
        </p:spPr>
        <p:txBody>
          <a:bodyPr vert="horz" wrap="square" lIns="0" tIns="8467" rIns="0" bIns="0" rtlCol="0">
            <a:spAutoFit/>
          </a:bodyPr>
          <a:lstStyle/>
          <a:p>
            <a:pPr marL="8467">
              <a:spcBef>
                <a:spcPts val="67"/>
              </a:spcBef>
            </a:pPr>
            <a:r>
              <a:rPr sz="1200" dirty="0">
                <a:solidFill>
                  <a:srgbClr val="FFFFFF"/>
                </a:solidFill>
                <a:latin typeface="Arial MT"/>
                <a:cs typeface="Arial MT"/>
              </a:rPr>
              <a:t>@SIH Idea submission- </a:t>
            </a:r>
            <a:r>
              <a:rPr sz="1200" spc="-7" dirty="0">
                <a:solidFill>
                  <a:srgbClr val="FFFFFF"/>
                </a:solidFill>
                <a:latin typeface="Arial MT"/>
                <a:cs typeface="Arial MT"/>
              </a:rPr>
              <a:t>Template</a:t>
            </a:r>
            <a:endParaRPr sz="1200">
              <a:latin typeface="Arial MT"/>
              <a:cs typeface="Arial MT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364970" y="1044239"/>
            <a:ext cx="10958829" cy="905087"/>
            <a:chOff x="547454" y="1566359"/>
            <a:chExt cx="16438244" cy="1357630"/>
          </a:xfrm>
        </p:grpSpPr>
        <p:sp>
          <p:nvSpPr>
            <p:cNvPr id="7" name="object 7"/>
            <p:cNvSpPr/>
            <p:nvPr/>
          </p:nvSpPr>
          <p:spPr>
            <a:xfrm>
              <a:off x="1445685" y="1585409"/>
              <a:ext cx="15396844" cy="0"/>
            </a:xfrm>
            <a:custGeom>
              <a:avLst/>
              <a:gdLst/>
              <a:ahLst/>
              <a:cxnLst/>
              <a:rect l="l" t="t" r="r" b="b"/>
              <a:pathLst>
                <a:path w="15396844">
                  <a:moveTo>
                    <a:pt x="0" y="0"/>
                  </a:moveTo>
                  <a:lnTo>
                    <a:pt x="15396626" y="0"/>
                  </a:lnTo>
                </a:path>
              </a:pathLst>
            </a:custGeom>
            <a:ln w="38099">
              <a:solidFill>
                <a:srgbClr val="004A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8" name="object 8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359908" y="2067557"/>
              <a:ext cx="228599" cy="174530"/>
            </a:xfrm>
            <a:prstGeom prst="rect">
              <a:avLst/>
            </a:prstGeom>
          </p:spPr>
        </p:pic>
        <p:sp>
          <p:nvSpPr>
            <p:cNvPr id="9" name="object 9"/>
            <p:cNvSpPr/>
            <p:nvPr/>
          </p:nvSpPr>
          <p:spPr>
            <a:xfrm>
              <a:off x="16870816" y="1595006"/>
              <a:ext cx="0" cy="457200"/>
            </a:xfrm>
            <a:custGeom>
              <a:avLst/>
              <a:gdLst/>
              <a:ahLst/>
              <a:cxnLst/>
              <a:rect l="l" t="t" r="r" b="b"/>
              <a:pathLst>
                <a:path h="457200">
                  <a:moveTo>
                    <a:pt x="0" y="0"/>
                  </a:moveTo>
                  <a:lnTo>
                    <a:pt x="0" y="456601"/>
                  </a:lnTo>
                </a:path>
              </a:pathLst>
            </a:custGeom>
            <a:ln w="57149">
              <a:solidFill>
                <a:srgbClr val="004A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0" name="object 10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6756516" y="2051608"/>
              <a:ext cx="228599" cy="171449"/>
            </a:xfrm>
            <a:prstGeom prst="rect">
              <a:avLst/>
            </a:prstGeom>
          </p:spPr>
        </p:pic>
        <p:sp>
          <p:nvSpPr>
            <p:cNvPr id="11" name="object 11"/>
            <p:cNvSpPr/>
            <p:nvPr/>
          </p:nvSpPr>
          <p:spPr>
            <a:xfrm>
              <a:off x="6943651" y="1595006"/>
              <a:ext cx="0" cy="457200"/>
            </a:xfrm>
            <a:custGeom>
              <a:avLst/>
              <a:gdLst/>
              <a:ahLst/>
              <a:cxnLst/>
              <a:rect l="l" t="t" r="r" b="b"/>
              <a:pathLst>
                <a:path h="457200">
                  <a:moveTo>
                    <a:pt x="0" y="0"/>
                  </a:moveTo>
                  <a:lnTo>
                    <a:pt x="0" y="456601"/>
                  </a:lnTo>
                </a:path>
              </a:pathLst>
            </a:custGeom>
            <a:ln w="57149">
              <a:solidFill>
                <a:srgbClr val="004A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2" name="object 12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829351" y="2051608"/>
              <a:ext cx="228599" cy="171449"/>
            </a:xfrm>
            <a:prstGeom prst="rect">
              <a:avLst/>
            </a:prstGeom>
          </p:spPr>
        </p:pic>
        <p:sp>
          <p:nvSpPr>
            <p:cNvPr id="13" name="object 13"/>
            <p:cNvSpPr/>
            <p:nvPr/>
          </p:nvSpPr>
          <p:spPr>
            <a:xfrm>
              <a:off x="11806801" y="1614056"/>
              <a:ext cx="0" cy="457200"/>
            </a:xfrm>
            <a:custGeom>
              <a:avLst/>
              <a:gdLst/>
              <a:ahLst/>
              <a:cxnLst/>
              <a:rect l="l" t="t" r="r" b="b"/>
              <a:pathLst>
                <a:path h="457200">
                  <a:moveTo>
                    <a:pt x="0" y="0"/>
                  </a:moveTo>
                  <a:lnTo>
                    <a:pt x="0" y="456601"/>
                  </a:lnTo>
                </a:path>
              </a:pathLst>
            </a:custGeom>
            <a:ln w="57149">
              <a:solidFill>
                <a:srgbClr val="004A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4" name="object 14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1692501" y="2070658"/>
              <a:ext cx="228599" cy="171449"/>
            </a:xfrm>
            <a:prstGeom prst="rect">
              <a:avLst/>
            </a:prstGeom>
          </p:spPr>
        </p:pic>
        <p:sp>
          <p:nvSpPr>
            <p:cNvPr id="15" name="object 15"/>
            <p:cNvSpPr/>
            <p:nvPr/>
          </p:nvSpPr>
          <p:spPr>
            <a:xfrm>
              <a:off x="547454" y="2242035"/>
              <a:ext cx="1853564" cy="681990"/>
            </a:xfrm>
            <a:custGeom>
              <a:avLst/>
              <a:gdLst/>
              <a:ahLst/>
              <a:cxnLst/>
              <a:rect l="l" t="t" r="r" b="b"/>
              <a:pathLst>
                <a:path w="1853564" h="681989">
                  <a:moveTo>
                    <a:pt x="1682162" y="681739"/>
                  </a:moveTo>
                  <a:lnTo>
                    <a:pt x="171449" y="681739"/>
                  </a:lnTo>
                  <a:lnTo>
                    <a:pt x="125871" y="675615"/>
                  </a:lnTo>
                  <a:lnTo>
                    <a:pt x="84915" y="658331"/>
                  </a:lnTo>
                  <a:lnTo>
                    <a:pt x="50216" y="631522"/>
                  </a:lnTo>
                  <a:lnTo>
                    <a:pt x="23407" y="596823"/>
                  </a:lnTo>
                  <a:lnTo>
                    <a:pt x="6124" y="555867"/>
                  </a:lnTo>
                  <a:lnTo>
                    <a:pt x="0" y="510289"/>
                  </a:lnTo>
                  <a:lnTo>
                    <a:pt x="0" y="171449"/>
                  </a:lnTo>
                  <a:lnTo>
                    <a:pt x="6124" y="125871"/>
                  </a:lnTo>
                  <a:lnTo>
                    <a:pt x="23407" y="84915"/>
                  </a:lnTo>
                  <a:lnTo>
                    <a:pt x="50216" y="50216"/>
                  </a:lnTo>
                  <a:lnTo>
                    <a:pt x="84915" y="23407"/>
                  </a:lnTo>
                  <a:lnTo>
                    <a:pt x="125871" y="6124"/>
                  </a:lnTo>
                  <a:lnTo>
                    <a:pt x="171449" y="0"/>
                  </a:lnTo>
                  <a:lnTo>
                    <a:pt x="1682162" y="0"/>
                  </a:lnTo>
                  <a:lnTo>
                    <a:pt x="1727740" y="6124"/>
                  </a:lnTo>
                  <a:lnTo>
                    <a:pt x="1768696" y="23407"/>
                  </a:lnTo>
                  <a:lnTo>
                    <a:pt x="1803396" y="50216"/>
                  </a:lnTo>
                  <a:lnTo>
                    <a:pt x="1830204" y="84915"/>
                  </a:lnTo>
                  <a:lnTo>
                    <a:pt x="1847488" y="125871"/>
                  </a:lnTo>
                  <a:lnTo>
                    <a:pt x="1853478" y="170456"/>
                  </a:lnTo>
                  <a:lnTo>
                    <a:pt x="1853478" y="511283"/>
                  </a:lnTo>
                  <a:lnTo>
                    <a:pt x="1847488" y="555867"/>
                  </a:lnTo>
                  <a:lnTo>
                    <a:pt x="1830204" y="596823"/>
                  </a:lnTo>
                  <a:lnTo>
                    <a:pt x="1803396" y="631522"/>
                  </a:lnTo>
                  <a:lnTo>
                    <a:pt x="1768696" y="658331"/>
                  </a:lnTo>
                  <a:lnTo>
                    <a:pt x="1727740" y="675615"/>
                  </a:lnTo>
                  <a:lnTo>
                    <a:pt x="1682162" y="681739"/>
                  </a:lnTo>
                  <a:close/>
                </a:path>
              </a:pathLst>
            </a:custGeom>
            <a:solidFill>
              <a:srgbClr val="37B5FF">
                <a:alpha val="789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6" name="object 16"/>
          <p:cNvSpPr txBox="1"/>
          <p:nvPr/>
        </p:nvSpPr>
        <p:spPr>
          <a:xfrm>
            <a:off x="630789" y="1579749"/>
            <a:ext cx="704003" cy="234317"/>
          </a:xfrm>
          <a:prstGeom prst="rect">
            <a:avLst/>
          </a:prstGeom>
        </p:spPr>
        <p:txBody>
          <a:bodyPr vert="horz" wrap="square" lIns="0" tIns="8467" rIns="0" bIns="0" rtlCol="0">
            <a:spAutoFit/>
          </a:bodyPr>
          <a:lstStyle/>
          <a:p>
            <a:pPr marL="8467">
              <a:spcBef>
                <a:spcPts val="67"/>
              </a:spcBef>
            </a:pPr>
            <a:r>
              <a:rPr lang="en-IN" sz="1467" b="1" u="sng" spc="-27" dirty="0">
                <a:latin typeface="Times New Roman"/>
                <a:cs typeface="Times New Roman"/>
              </a:rPr>
              <a:t>Users</a:t>
            </a:r>
            <a:r>
              <a:rPr lang="en-IN" sz="1467" b="1" spc="-27" dirty="0">
                <a:latin typeface="Times New Roman"/>
                <a:cs typeface="Times New Roman"/>
              </a:rPr>
              <a:t>:</a:t>
            </a:r>
            <a:endParaRPr sz="1467" dirty="0">
              <a:latin typeface="Times New Roman"/>
              <a:cs typeface="Times New Roman"/>
            </a:endParaRPr>
          </a:p>
        </p:txBody>
      </p:sp>
      <p:sp>
        <p:nvSpPr>
          <p:cNvPr id="17" name="object 17"/>
          <p:cNvSpPr txBox="1">
            <a:spLocks noGrp="1"/>
          </p:cNvSpPr>
          <p:nvPr>
            <p:ph type="title"/>
          </p:nvPr>
        </p:nvSpPr>
        <p:spPr>
          <a:xfrm>
            <a:off x="3512226" y="-31260"/>
            <a:ext cx="5476239" cy="956736"/>
          </a:xfrm>
          <a:prstGeom prst="rect">
            <a:avLst/>
          </a:prstGeom>
        </p:spPr>
        <p:txBody>
          <a:bodyPr vert="horz" wrap="square" lIns="0" tIns="43179" rIns="0" bIns="0" rtlCol="0">
            <a:spAutoFit/>
          </a:bodyPr>
          <a:lstStyle/>
          <a:p>
            <a:pPr marL="8467">
              <a:spcBef>
                <a:spcPts val="339"/>
              </a:spcBef>
              <a:tabLst>
                <a:tab pos="2018554" algn="l"/>
                <a:tab pos="3166692" algn="l"/>
              </a:tabLst>
            </a:pPr>
            <a:r>
              <a:rPr sz="3200" u="sng" spc="37" dirty="0">
                <a:solidFill>
                  <a:schemeClr val="tx2">
                    <a:lumMod val="75000"/>
                  </a:schemeClr>
                </a:solidFill>
              </a:rPr>
              <a:t>IMPACT</a:t>
            </a:r>
            <a:r>
              <a:rPr lang="en-US" sz="3200" u="sng" spc="37" dirty="0">
                <a:solidFill>
                  <a:schemeClr val="tx2">
                    <a:lumMod val="75000"/>
                  </a:schemeClr>
                </a:solidFill>
              </a:rPr>
              <a:t>S</a:t>
            </a:r>
            <a:r>
              <a:rPr sz="3200" u="sng" dirty="0">
                <a:solidFill>
                  <a:schemeClr val="tx2">
                    <a:lumMod val="75000"/>
                  </a:schemeClr>
                </a:solidFill>
              </a:rPr>
              <a:t>	</a:t>
            </a:r>
            <a:r>
              <a:rPr sz="3200" u="sng" spc="76" dirty="0">
                <a:solidFill>
                  <a:schemeClr val="tx2">
                    <a:lumMod val="75000"/>
                  </a:schemeClr>
                </a:solidFill>
              </a:rPr>
              <a:t>AND</a:t>
            </a:r>
            <a:r>
              <a:rPr sz="3200" u="sng" dirty="0">
                <a:solidFill>
                  <a:schemeClr val="tx2">
                    <a:lumMod val="75000"/>
                  </a:schemeClr>
                </a:solidFill>
              </a:rPr>
              <a:t>	</a:t>
            </a:r>
            <a:r>
              <a:rPr sz="3200" u="sng" spc="23" dirty="0">
                <a:solidFill>
                  <a:schemeClr val="tx2">
                    <a:lumMod val="75000"/>
                  </a:schemeClr>
                </a:solidFill>
              </a:rPr>
              <a:t>BENEFITS</a:t>
            </a:r>
          </a:p>
          <a:p>
            <a:pPr marL="77897">
              <a:spcBef>
                <a:spcPts val="220"/>
              </a:spcBef>
            </a:pPr>
            <a:r>
              <a:rPr sz="2567" u="sng" spc="-7" dirty="0">
                <a:solidFill>
                  <a:srgbClr val="004AAC"/>
                </a:solidFill>
              </a:rPr>
              <a:t>Potential</a:t>
            </a:r>
            <a:r>
              <a:rPr sz="2567" u="sng" spc="-123" dirty="0">
                <a:solidFill>
                  <a:srgbClr val="004AAC"/>
                </a:solidFill>
              </a:rPr>
              <a:t> </a:t>
            </a:r>
            <a:r>
              <a:rPr sz="2567" u="sng" spc="-40" dirty="0">
                <a:solidFill>
                  <a:srgbClr val="004AAC"/>
                </a:solidFill>
              </a:rPr>
              <a:t>Impact</a:t>
            </a:r>
            <a:r>
              <a:rPr lang="en-US" sz="2567" u="sng" spc="-40" dirty="0">
                <a:solidFill>
                  <a:srgbClr val="004AAC"/>
                </a:solidFill>
              </a:rPr>
              <a:t>s</a:t>
            </a:r>
            <a:r>
              <a:rPr sz="2567" u="sng" spc="-120" dirty="0">
                <a:solidFill>
                  <a:srgbClr val="004AAC"/>
                </a:solidFill>
              </a:rPr>
              <a:t> </a:t>
            </a:r>
            <a:r>
              <a:rPr sz="2567" u="sng" dirty="0">
                <a:solidFill>
                  <a:srgbClr val="004AAC"/>
                </a:solidFill>
              </a:rPr>
              <a:t>on</a:t>
            </a:r>
            <a:r>
              <a:rPr sz="2567" u="sng" spc="-120" dirty="0">
                <a:solidFill>
                  <a:srgbClr val="004AAC"/>
                </a:solidFill>
              </a:rPr>
              <a:t> </a:t>
            </a:r>
            <a:r>
              <a:rPr sz="2567" u="sng" spc="-27" dirty="0">
                <a:solidFill>
                  <a:srgbClr val="004AAC"/>
                </a:solidFill>
              </a:rPr>
              <a:t>Target</a:t>
            </a:r>
            <a:r>
              <a:rPr sz="2567" u="sng" spc="-120" dirty="0">
                <a:solidFill>
                  <a:srgbClr val="004AAC"/>
                </a:solidFill>
              </a:rPr>
              <a:t> </a:t>
            </a:r>
            <a:r>
              <a:rPr sz="2567" u="sng" spc="-7" dirty="0">
                <a:solidFill>
                  <a:srgbClr val="004AAC"/>
                </a:solidFill>
              </a:rPr>
              <a:t>Audience</a:t>
            </a:r>
            <a:endParaRPr sz="2567" u="sng" dirty="0"/>
          </a:p>
        </p:txBody>
      </p:sp>
      <p:sp>
        <p:nvSpPr>
          <p:cNvPr id="22" name="object 22"/>
          <p:cNvSpPr/>
          <p:nvPr/>
        </p:nvSpPr>
        <p:spPr>
          <a:xfrm>
            <a:off x="4030329" y="1481990"/>
            <a:ext cx="1235709" cy="454660"/>
          </a:xfrm>
          <a:custGeom>
            <a:avLst/>
            <a:gdLst/>
            <a:ahLst/>
            <a:cxnLst/>
            <a:rect l="l" t="t" r="r" b="b"/>
            <a:pathLst>
              <a:path w="1853565" h="681989">
                <a:moveTo>
                  <a:pt x="1682162" y="681739"/>
                </a:moveTo>
                <a:lnTo>
                  <a:pt x="171450" y="681739"/>
                </a:lnTo>
                <a:lnTo>
                  <a:pt x="125871" y="675615"/>
                </a:lnTo>
                <a:lnTo>
                  <a:pt x="84915" y="658331"/>
                </a:lnTo>
                <a:lnTo>
                  <a:pt x="50216" y="631522"/>
                </a:lnTo>
                <a:lnTo>
                  <a:pt x="23407" y="596823"/>
                </a:lnTo>
                <a:lnTo>
                  <a:pt x="6124" y="555867"/>
                </a:lnTo>
                <a:lnTo>
                  <a:pt x="0" y="510289"/>
                </a:lnTo>
                <a:lnTo>
                  <a:pt x="0" y="171449"/>
                </a:lnTo>
                <a:lnTo>
                  <a:pt x="6124" y="125871"/>
                </a:lnTo>
                <a:lnTo>
                  <a:pt x="23407" y="84915"/>
                </a:lnTo>
                <a:lnTo>
                  <a:pt x="50216" y="50216"/>
                </a:lnTo>
                <a:lnTo>
                  <a:pt x="84915" y="23407"/>
                </a:lnTo>
                <a:lnTo>
                  <a:pt x="125871" y="6124"/>
                </a:lnTo>
                <a:lnTo>
                  <a:pt x="171450" y="0"/>
                </a:lnTo>
                <a:lnTo>
                  <a:pt x="1682162" y="0"/>
                </a:lnTo>
                <a:lnTo>
                  <a:pt x="1727740" y="6124"/>
                </a:lnTo>
                <a:lnTo>
                  <a:pt x="1768696" y="23407"/>
                </a:lnTo>
                <a:lnTo>
                  <a:pt x="1803395" y="50216"/>
                </a:lnTo>
                <a:lnTo>
                  <a:pt x="1830204" y="84915"/>
                </a:lnTo>
                <a:lnTo>
                  <a:pt x="1847488" y="125871"/>
                </a:lnTo>
                <a:lnTo>
                  <a:pt x="1853478" y="170456"/>
                </a:lnTo>
                <a:lnTo>
                  <a:pt x="1853478" y="511283"/>
                </a:lnTo>
                <a:lnTo>
                  <a:pt x="1847488" y="555867"/>
                </a:lnTo>
                <a:lnTo>
                  <a:pt x="1830204" y="596823"/>
                </a:lnTo>
                <a:lnTo>
                  <a:pt x="1803395" y="631522"/>
                </a:lnTo>
                <a:lnTo>
                  <a:pt x="1768696" y="658331"/>
                </a:lnTo>
                <a:lnTo>
                  <a:pt x="1727740" y="675615"/>
                </a:lnTo>
                <a:lnTo>
                  <a:pt x="1682162" y="681739"/>
                </a:lnTo>
                <a:close/>
              </a:path>
            </a:pathLst>
          </a:custGeom>
          <a:solidFill>
            <a:srgbClr val="37B5FF">
              <a:alpha val="78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 txBox="1"/>
          <p:nvPr/>
        </p:nvSpPr>
        <p:spPr>
          <a:xfrm>
            <a:off x="4192909" y="1545441"/>
            <a:ext cx="975573" cy="234317"/>
          </a:xfrm>
          <a:prstGeom prst="rect">
            <a:avLst/>
          </a:prstGeom>
        </p:spPr>
        <p:txBody>
          <a:bodyPr vert="horz" wrap="square" lIns="0" tIns="8467" rIns="0" bIns="0" rtlCol="0">
            <a:spAutoFit/>
          </a:bodyPr>
          <a:lstStyle/>
          <a:p>
            <a:pPr marL="8467">
              <a:spcBef>
                <a:spcPts val="67"/>
              </a:spcBef>
            </a:pPr>
            <a:r>
              <a:rPr lang="en-IN" sz="1467" b="1" u="sng" spc="-27" dirty="0">
                <a:latin typeface="Times New Roman"/>
                <a:cs typeface="Times New Roman"/>
              </a:rPr>
              <a:t>Developers</a:t>
            </a:r>
            <a:r>
              <a:rPr sz="1467" b="1" spc="-27" dirty="0">
                <a:latin typeface="Times New Roman"/>
                <a:cs typeface="Times New Roman"/>
              </a:rPr>
              <a:t>:</a:t>
            </a:r>
            <a:endParaRPr sz="1467" dirty="0">
              <a:latin typeface="Times New Roman"/>
              <a:cs typeface="Times New Roman"/>
            </a:endParaRPr>
          </a:p>
        </p:txBody>
      </p:sp>
      <p:sp>
        <p:nvSpPr>
          <p:cNvPr id="24" name="object 24"/>
          <p:cNvSpPr/>
          <p:nvPr/>
        </p:nvSpPr>
        <p:spPr>
          <a:xfrm>
            <a:off x="7234328" y="1481990"/>
            <a:ext cx="1235709" cy="454660"/>
          </a:xfrm>
          <a:custGeom>
            <a:avLst/>
            <a:gdLst/>
            <a:ahLst/>
            <a:cxnLst/>
            <a:rect l="l" t="t" r="r" b="b"/>
            <a:pathLst>
              <a:path w="1853565" h="681989">
                <a:moveTo>
                  <a:pt x="1682162" y="681739"/>
                </a:moveTo>
                <a:lnTo>
                  <a:pt x="171449" y="681739"/>
                </a:lnTo>
                <a:lnTo>
                  <a:pt x="125871" y="675615"/>
                </a:lnTo>
                <a:lnTo>
                  <a:pt x="84915" y="658331"/>
                </a:lnTo>
                <a:lnTo>
                  <a:pt x="50216" y="631522"/>
                </a:lnTo>
                <a:lnTo>
                  <a:pt x="23407" y="596823"/>
                </a:lnTo>
                <a:lnTo>
                  <a:pt x="6124" y="555867"/>
                </a:lnTo>
                <a:lnTo>
                  <a:pt x="0" y="510289"/>
                </a:lnTo>
                <a:lnTo>
                  <a:pt x="0" y="171449"/>
                </a:lnTo>
                <a:lnTo>
                  <a:pt x="6124" y="125871"/>
                </a:lnTo>
                <a:lnTo>
                  <a:pt x="23407" y="84915"/>
                </a:lnTo>
                <a:lnTo>
                  <a:pt x="50216" y="50216"/>
                </a:lnTo>
                <a:lnTo>
                  <a:pt x="84915" y="23407"/>
                </a:lnTo>
                <a:lnTo>
                  <a:pt x="125871" y="6124"/>
                </a:lnTo>
                <a:lnTo>
                  <a:pt x="171449" y="0"/>
                </a:lnTo>
                <a:lnTo>
                  <a:pt x="1682162" y="0"/>
                </a:lnTo>
                <a:lnTo>
                  <a:pt x="1727740" y="6124"/>
                </a:lnTo>
                <a:lnTo>
                  <a:pt x="1768696" y="23407"/>
                </a:lnTo>
                <a:lnTo>
                  <a:pt x="1803396" y="50216"/>
                </a:lnTo>
                <a:lnTo>
                  <a:pt x="1830204" y="84915"/>
                </a:lnTo>
                <a:lnTo>
                  <a:pt x="1847488" y="125871"/>
                </a:lnTo>
                <a:lnTo>
                  <a:pt x="1853478" y="170456"/>
                </a:lnTo>
                <a:lnTo>
                  <a:pt x="1853478" y="511283"/>
                </a:lnTo>
                <a:lnTo>
                  <a:pt x="1847488" y="555867"/>
                </a:lnTo>
                <a:lnTo>
                  <a:pt x="1830204" y="596823"/>
                </a:lnTo>
                <a:lnTo>
                  <a:pt x="1803396" y="631522"/>
                </a:lnTo>
                <a:lnTo>
                  <a:pt x="1768696" y="658331"/>
                </a:lnTo>
                <a:lnTo>
                  <a:pt x="1727740" y="675615"/>
                </a:lnTo>
                <a:lnTo>
                  <a:pt x="1682162" y="681739"/>
                </a:lnTo>
                <a:close/>
              </a:path>
            </a:pathLst>
          </a:custGeom>
          <a:solidFill>
            <a:srgbClr val="37B5FF">
              <a:alpha val="78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 txBox="1"/>
          <p:nvPr/>
        </p:nvSpPr>
        <p:spPr>
          <a:xfrm>
            <a:off x="7510527" y="1459956"/>
            <a:ext cx="836767" cy="460084"/>
          </a:xfrm>
          <a:prstGeom prst="rect">
            <a:avLst/>
          </a:prstGeom>
        </p:spPr>
        <p:txBody>
          <a:bodyPr vert="horz" wrap="square" lIns="0" tIns="8467" rIns="0" bIns="0" rtlCol="0">
            <a:spAutoFit/>
          </a:bodyPr>
          <a:lstStyle/>
          <a:p>
            <a:pPr marL="8467">
              <a:spcBef>
                <a:spcPts val="67"/>
              </a:spcBef>
            </a:pPr>
            <a:r>
              <a:rPr lang="en-IN" sz="1467" b="1" u="sng" spc="-53" dirty="0">
                <a:latin typeface="Times New Roman"/>
                <a:cs typeface="Times New Roman"/>
              </a:rPr>
              <a:t>Students / Learners</a:t>
            </a:r>
            <a:endParaRPr sz="1467" u="sng" dirty="0">
              <a:latin typeface="Times New Roman"/>
              <a:cs typeface="Times New Roman"/>
            </a:endParaRPr>
          </a:p>
        </p:txBody>
      </p:sp>
      <p:sp>
        <p:nvSpPr>
          <p:cNvPr id="26" name="object 26"/>
          <p:cNvSpPr/>
          <p:nvPr/>
        </p:nvSpPr>
        <p:spPr>
          <a:xfrm>
            <a:off x="10438570" y="1449995"/>
            <a:ext cx="1442720" cy="670560"/>
          </a:xfrm>
          <a:custGeom>
            <a:avLst/>
            <a:gdLst/>
            <a:ahLst/>
            <a:cxnLst/>
            <a:rect l="l" t="t" r="r" b="b"/>
            <a:pathLst>
              <a:path w="2164080" h="1005839">
                <a:moveTo>
                  <a:pt x="1993743" y="1005378"/>
                </a:moveTo>
                <a:lnTo>
                  <a:pt x="171449" y="1005378"/>
                </a:lnTo>
                <a:lnTo>
                  <a:pt x="125871" y="999254"/>
                </a:lnTo>
                <a:lnTo>
                  <a:pt x="84915" y="981970"/>
                </a:lnTo>
                <a:lnTo>
                  <a:pt x="50216" y="955162"/>
                </a:lnTo>
                <a:lnTo>
                  <a:pt x="23407" y="920462"/>
                </a:lnTo>
                <a:lnTo>
                  <a:pt x="6124" y="879506"/>
                </a:lnTo>
                <a:lnTo>
                  <a:pt x="0" y="833928"/>
                </a:lnTo>
                <a:lnTo>
                  <a:pt x="0" y="171449"/>
                </a:lnTo>
                <a:lnTo>
                  <a:pt x="6124" y="125871"/>
                </a:lnTo>
                <a:lnTo>
                  <a:pt x="23407" y="84915"/>
                </a:lnTo>
                <a:lnTo>
                  <a:pt x="50216" y="50216"/>
                </a:lnTo>
                <a:lnTo>
                  <a:pt x="84915" y="23407"/>
                </a:lnTo>
                <a:lnTo>
                  <a:pt x="125871" y="6124"/>
                </a:lnTo>
                <a:lnTo>
                  <a:pt x="171449" y="0"/>
                </a:lnTo>
                <a:lnTo>
                  <a:pt x="1993743" y="0"/>
                </a:lnTo>
                <a:lnTo>
                  <a:pt x="2039321" y="6124"/>
                </a:lnTo>
                <a:lnTo>
                  <a:pt x="2080277" y="23407"/>
                </a:lnTo>
                <a:lnTo>
                  <a:pt x="2114976" y="50216"/>
                </a:lnTo>
                <a:lnTo>
                  <a:pt x="2141785" y="84915"/>
                </a:lnTo>
                <a:lnTo>
                  <a:pt x="2159069" y="125871"/>
                </a:lnTo>
                <a:lnTo>
                  <a:pt x="2163920" y="161975"/>
                </a:lnTo>
                <a:lnTo>
                  <a:pt x="2163920" y="843403"/>
                </a:lnTo>
                <a:lnTo>
                  <a:pt x="2141785" y="920462"/>
                </a:lnTo>
                <a:lnTo>
                  <a:pt x="2114976" y="955162"/>
                </a:lnTo>
                <a:lnTo>
                  <a:pt x="2080277" y="981970"/>
                </a:lnTo>
                <a:lnTo>
                  <a:pt x="2039321" y="999254"/>
                </a:lnTo>
                <a:lnTo>
                  <a:pt x="1993743" y="1005378"/>
                </a:lnTo>
                <a:close/>
              </a:path>
            </a:pathLst>
          </a:custGeom>
          <a:solidFill>
            <a:srgbClr val="37B5FF">
              <a:alpha val="78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 txBox="1"/>
          <p:nvPr/>
        </p:nvSpPr>
        <p:spPr>
          <a:xfrm>
            <a:off x="388744" y="4009178"/>
            <a:ext cx="6467322" cy="2606761"/>
          </a:xfrm>
          <a:prstGeom prst="rect">
            <a:avLst/>
          </a:prstGeom>
        </p:spPr>
        <p:txBody>
          <a:bodyPr vert="horz" wrap="square" lIns="0" tIns="56727" rIns="0" bIns="0" rtlCol="0">
            <a:spAutoFit/>
          </a:bodyPr>
          <a:lstStyle/>
          <a:p>
            <a:pPr marL="8467" algn="l">
              <a:spcBef>
                <a:spcPts val="447"/>
              </a:spcBef>
            </a:pPr>
            <a:r>
              <a:rPr sz="2567" b="1" u="sng" spc="-17" dirty="0">
                <a:solidFill>
                  <a:srgbClr val="004AAC"/>
                </a:solidFill>
                <a:latin typeface="Times New Roman"/>
                <a:cs typeface="Times New Roman"/>
              </a:rPr>
              <a:t>Benefits</a:t>
            </a:r>
            <a:r>
              <a:rPr sz="2567" b="1" u="sng" spc="-87" dirty="0">
                <a:solidFill>
                  <a:srgbClr val="004AAC"/>
                </a:solidFill>
                <a:latin typeface="Times New Roman"/>
                <a:cs typeface="Times New Roman"/>
              </a:rPr>
              <a:t> </a:t>
            </a:r>
            <a:r>
              <a:rPr sz="2567" b="1" u="sng" dirty="0">
                <a:solidFill>
                  <a:srgbClr val="004AAC"/>
                </a:solidFill>
                <a:latin typeface="Times New Roman"/>
                <a:cs typeface="Times New Roman"/>
              </a:rPr>
              <a:t>of</a:t>
            </a:r>
            <a:r>
              <a:rPr sz="2567" b="1" u="sng" spc="76" dirty="0">
                <a:solidFill>
                  <a:srgbClr val="004AAC"/>
                </a:solidFill>
                <a:latin typeface="Times New Roman"/>
                <a:cs typeface="Times New Roman"/>
              </a:rPr>
              <a:t> </a:t>
            </a:r>
            <a:r>
              <a:rPr sz="2567" b="1" u="sng" dirty="0">
                <a:solidFill>
                  <a:srgbClr val="004AAC"/>
                </a:solidFill>
                <a:latin typeface="Times New Roman"/>
                <a:cs typeface="Times New Roman"/>
              </a:rPr>
              <a:t>the</a:t>
            </a:r>
            <a:r>
              <a:rPr sz="2567" b="1" u="sng" spc="-87" dirty="0">
                <a:solidFill>
                  <a:srgbClr val="004AAC"/>
                </a:solidFill>
                <a:latin typeface="Times New Roman"/>
                <a:cs typeface="Times New Roman"/>
              </a:rPr>
              <a:t> </a:t>
            </a:r>
            <a:r>
              <a:rPr sz="2567" b="1" u="sng" spc="-7" dirty="0">
                <a:solidFill>
                  <a:srgbClr val="004AAC"/>
                </a:solidFill>
                <a:latin typeface="Times New Roman"/>
                <a:cs typeface="Times New Roman"/>
              </a:rPr>
              <a:t>Solution:</a:t>
            </a:r>
            <a:endParaRPr sz="2567" u="sng" dirty="0">
              <a:latin typeface="Times New Roman"/>
              <a:cs typeface="Times New Roman"/>
            </a:endParaRPr>
          </a:p>
          <a:p>
            <a:pPr marL="508011" marR="3387" indent="-285750" algn="l">
              <a:lnSpc>
                <a:spcPts val="2053"/>
              </a:lnSpc>
              <a:spcBef>
                <a:spcPts val="347"/>
              </a:spcBef>
              <a:buFont typeface="Arial" panose="020B0604020202020204" pitchFamily="34" charset="0"/>
              <a:buChar char="•"/>
              <a:tabLst>
                <a:tab pos="950431" algn="l"/>
                <a:tab pos="1940657" algn="l"/>
                <a:tab pos="3036298" algn="l"/>
                <a:tab pos="3766585" algn="l"/>
                <a:tab pos="4650126" algn="l"/>
                <a:tab pos="5101422" algn="l"/>
                <a:tab pos="6265223" algn="l"/>
                <a:tab pos="7539944" algn="l"/>
                <a:tab pos="8457353" algn="l"/>
              </a:tabLst>
            </a:pPr>
            <a:r>
              <a:rPr lang="en-IN" sz="1733" b="1" u="sng" spc="-7" dirty="0">
                <a:solidFill>
                  <a:srgbClr val="004AAC"/>
                </a:solidFill>
                <a:latin typeface="Times New Roman"/>
                <a:cs typeface="Times New Roman"/>
              </a:rPr>
              <a:t>Social</a:t>
            </a:r>
            <a:r>
              <a:rPr lang="en-IN" sz="1733" b="1" spc="-7" dirty="0">
                <a:solidFill>
                  <a:srgbClr val="004AAC"/>
                </a:solidFill>
                <a:latin typeface="Times New Roman"/>
                <a:cs typeface="Times New Roman"/>
              </a:rPr>
              <a:t>: </a:t>
            </a:r>
            <a:r>
              <a:rPr lang="en-IN" sz="1733" spc="47" dirty="0">
                <a:latin typeface="Times New Roman"/>
                <a:cs typeface="Times New Roman"/>
              </a:rPr>
              <a:t>Enhances</a:t>
            </a:r>
            <a:r>
              <a:rPr lang="en-US" sz="1733" spc="47" dirty="0">
                <a:latin typeface="Times New Roman"/>
                <a:cs typeface="Times New Roman"/>
              </a:rPr>
              <a:t> user experience through transparent real-time tracking.</a:t>
            </a:r>
            <a:endParaRPr sz="1733" dirty="0">
              <a:latin typeface="Times New Roman"/>
              <a:cs typeface="Times New Roman"/>
            </a:endParaRPr>
          </a:p>
          <a:p>
            <a:pPr marL="508011" indent="-285750" algn="l">
              <a:lnSpc>
                <a:spcPts val="1970"/>
              </a:lnSpc>
              <a:buFont typeface="Arial" panose="020B0604020202020204" pitchFamily="34" charset="0"/>
              <a:buChar char="•"/>
            </a:pPr>
            <a:r>
              <a:rPr sz="1733" b="1" u="sng" spc="-20" dirty="0">
                <a:solidFill>
                  <a:srgbClr val="004AAC"/>
                </a:solidFill>
                <a:latin typeface="Times New Roman"/>
                <a:cs typeface="Times New Roman"/>
              </a:rPr>
              <a:t>Economic</a:t>
            </a:r>
            <a:r>
              <a:rPr sz="1733" b="1" spc="-20" dirty="0">
                <a:solidFill>
                  <a:srgbClr val="004AAC"/>
                </a:solidFill>
                <a:latin typeface="Times New Roman"/>
                <a:cs typeface="Times New Roman"/>
              </a:rPr>
              <a:t>:</a:t>
            </a:r>
            <a:r>
              <a:rPr sz="1733" b="1" spc="250" dirty="0">
                <a:solidFill>
                  <a:srgbClr val="004AAC"/>
                </a:solidFill>
                <a:latin typeface="Times New Roman"/>
                <a:cs typeface="Times New Roman"/>
              </a:rPr>
              <a:t> </a:t>
            </a:r>
            <a:r>
              <a:rPr lang="en-US" sz="1733" spc="37" dirty="0">
                <a:latin typeface="Times New Roman"/>
                <a:cs typeface="Times New Roman"/>
              </a:rPr>
              <a:t>Provides a practical demonstration of OS concepts in real-world applications.</a:t>
            </a:r>
            <a:endParaRPr sz="1733" dirty="0">
              <a:latin typeface="Times New Roman"/>
              <a:cs typeface="Times New Roman"/>
            </a:endParaRPr>
          </a:p>
          <a:p>
            <a:pPr marL="508011" marR="3387" indent="-285750" algn="l">
              <a:lnSpc>
                <a:spcPts val="2053"/>
              </a:lnSpc>
              <a:spcBef>
                <a:spcPts val="76"/>
              </a:spcBef>
              <a:buFont typeface="Arial" panose="020B0604020202020204" pitchFamily="34" charset="0"/>
              <a:buChar char="•"/>
              <a:tabLst>
                <a:tab pos="1476660" algn="l"/>
                <a:tab pos="2494827" algn="l"/>
                <a:tab pos="3393610" algn="l"/>
                <a:tab pos="4430405" algn="l"/>
                <a:tab pos="5430368" algn="l"/>
                <a:tab pos="5772439" algn="l"/>
                <a:tab pos="6349894" algn="l"/>
                <a:tab pos="7145377" algn="l"/>
                <a:tab pos="8039079" algn="l"/>
                <a:tab pos="8369295" algn="l"/>
              </a:tabLst>
            </a:pPr>
            <a:r>
              <a:rPr sz="1733" b="1" u="sng" spc="-7" dirty="0">
                <a:solidFill>
                  <a:srgbClr val="004AAC"/>
                </a:solidFill>
                <a:latin typeface="Times New Roman"/>
                <a:cs typeface="Times New Roman"/>
              </a:rPr>
              <a:t>Governance: Acts</a:t>
            </a:r>
            <a:r>
              <a:rPr lang="en-US" sz="1733" spc="47" dirty="0">
                <a:latin typeface="Times New Roman"/>
                <a:cs typeface="Times New Roman"/>
              </a:rPr>
              <a:t> as a learning tool for understanding scheduling, IPC, and concurrency.</a:t>
            </a:r>
            <a:endParaRPr sz="1733" dirty="0">
              <a:latin typeface="Times New Roman"/>
              <a:cs typeface="Times New Roman"/>
            </a:endParaRPr>
          </a:p>
          <a:p>
            <a:pPr marL="508011" indent="-285750" algn="l">
              <a:lnSpc>
                <a:spcPts val="1970"/>
              </a:lnSpc>
              <a:buFont typeface="Arial" panose="020B0604020202020204" pitchFamily="34" charset="0"/>
              <a:buChar char="•"/>
            </a:pPr>
            <a:r>
              <a:rPr lang="en-IN" sz="1733" b="1" u="sng" dirty="0">
                <a:solidFill>
                  <a:srgbClr val="004AAC"/>
                </a:solidFill>
                <a:latin typeface="Times New Roman"/>
                <a:cs typeface="Times New Roman"/>
              </a:rPr>
              <a:t>Scientific &amp; Research</a:t>
            </a:r>
            <a:r>
              <a:rPr sz="1733" b="1" spc="-43" dirty="0">
                <a:solidFill>
                  <a:srgbClr val="004AAC"/>
                </a:solidFill>
                <a:latin typeface="Times New Roman"/>
                <a:cs typeface="Times New Roman"/>
              </a:rPr>
              <a:t>:</a:t>
            </a:r>
            <a:r>
              <a:rPr sz="1733" b="1" spc="157" dirty="0">
                <a:solidFill>
                  <a:srgbClr val="004AAC"/>
                </a:solidFill>
                <a:latin typeface="Times New Roman"/>
                <a:cs typeface="Times New Roman"/>
              </a:rPr>
              <a:t> </a:t>
            </a:r>
            <a:r>
              <a:rPr lang="en-US" sz="1733" spc="63" dirty="0">
                <a:latin typeface="Times New Roman"/>
                <a:cs typeface="Times New Roman"/>
              </a:rPr>
              <a:t>Reflects architecture used in modern real-time service platforms.</a:t>
            </a:r>
            <a:endParaRPr sz="1733" dirty="0">
              <a:latin typeface="Times New Roman"/>
              <a:cs typeface="Times New Roman"/>
            </a:endParaRPr>
          </a:p>
        </p:txBody>
      </p:sp>
      <p:grpSp>
        <p:nvGrpSpPr>
          <p:cNvPr id="28" name="object 28"/>
          <p:cNvGrpSpPr/>
          <p:nvPr/>
        </p:nvGrpSpPr>
        <p:grpSpPr>
          <a:xfrm>
            <a:off x="222553" y="1076037"/>
            <a:ext cx="2756071" cy="2623827"/>
            <a:chOff x="333829" y="1614056"/>
            <a:chExt cx="4134107" cy="3935741"/>
          </a:xfrm>
        </p:grpSpPr>
        <p:sp>
          <p:nvSpPr>
            <p:cNvPr id="29" name="object 29"/>
            <p:cNvSpPr/>
            <p:nvPr/>
          </p:nvSpPr>
          <p:spPr>
            <a:xfrm>
              <a:off x="1474188" y="1614056"/>
              <a:ext cx="0" cy="457200"/>
            </a:xfrm>
            <a:custGeom>
              <a:avLst/>
              <a:gdLst/>
              <a:ahLst/>
              <a:cxnLst/>
              <a:rect l="l" t="t" r="r" b="b"/>
              <a:pathLst>
                <a:path h="457200">
                  <a:moveTo>
                    <a:pt x="0" y="0"/>
                  </a:moveTo>
                  <a:lnTo>
                    <a:pt x="0" y="456601"/>
                  </a:lnTo>
                </a:path>
              </a:pathLst>
            </a:custGeom>
            <a:ln w="57149">
              <a:solidFill>
                <a:srgbClr val="004A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0" name="object 30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359888" y="2070658"/>
              <a:ext cx="228599" cy="171449"/>
            </a:xfrm>
            <a:prstGeom prst="rect">
              <a:avLst/>
            </a:prstGeom>
          </p:spPr>
        </p:pic>
        <p:sp>
          <p:nvSpPr>
            <p:cNvPr id="32" name="object 32"/>
            <p:cNvSpPr/>
            <p:nvPr/>
          </p:nvSpPr>
          <p:spPr>
            <a:xfrm>
              <a:off x="333829" y="3359231"/>
              <a:ext cx="3970020" cy="2026285"/>
            </a:xfrm>
            <a:custGeom>
              <a:avLst/>
              <a:gdLst/>
              <a:ahLst/>
              <a:cxnLst/>
              <a:rect l="l" t="t" r="r" b="b"/>
              <a:pathLst>
                <a:path w="3970020" h="2026285">
                  <a:moveTo>
                    <a:pt x="3477065" y="2026212"/>
                  </a:moveTo>
                  <a:lnTo>
                    <a:pt x="492774" y="2026212"/>
                  </a:lnTo>
                  <a:lnTo>
                    <a:pt x="480677" y="2026064"/>
                  </a:lnTo>
                  <a:lnTo>
                    <a:pt x="432449" y="2022506"/>
                  </a:lnTo>
                  <a:lnTo>
                    <a:pt x="384803" y="2014237"/>
                  </a:lnTo>
                  <a:lnTo>
                    <a:pt x="338196" y="2001339"/>
                  </a:lnTo>
                  <a:lnTo>
                    <a:pt x="293078" y="1983935"/>
                  </a:lnTo>
                  <a:lnTo>
                    <a:pt x="249883" y="1962192"/>
                  </a:lnTo>
                  <a:lnTo>
                    <a:pt x="209027" y="1936320"/>
                  </a:lnTo>
                  <a:lnTo>
                    <a:pt x="170904" y="1906568"/>
                  </a:lnTo>
                  <a:lnTo>
                    <a:pt x="135881" y="1873223"/>
                  </a:lnTo>
                  <a:lnTo>
                    <a:pt x="104294" y="1836605"/>
                  </a:lnTo>
                  <a:lnTo>
                    <a:pt x="76449" y="1797068"/>
                  </a:lnTo>
                  <a:lnTo>
                    <a:pt x="52614" y="1754991"/>
                  </a:lnTo>
                  <a:lnTo>
                    <a:pt x="33017" y="1710781"/>
                  </a:lnTo>
                  <a:lnTo>
                    <a:pt x="17849" y="1664863"/>
                  </a:lnTo>
                  <a:lnTo>
                    <a:pt x="7253" y="1617680"/>
                  </a:lnTo>
                  <a:lnTo>
                    <a:pt x="1334" y="1569685"/>
                  </a:lnTo>
                  <a:lnTo>
                    <a:pt x="0" y="1533438"/>
                  </a:lnTo>
                  <a:lnTo>
                    <a:pt x="0" y="492773"/>
                  </a:lnTo>
                  <a:lnTo>
                    <a:pt x="2372" y="444473"/>
                  </a:lnTo>
                  <a:lnTo>
                    <a:pt x="9468" y="396638"/>
                  </a:lnTo>
                  <a:lnTo>
                    <a:pt x="21218" y="349729"/>
                  </a:lnTo>
                  <a:lnTo>
                    <a:pt x="37510" y="304197"/>
                  </a:lnTo>
                  <a:lnTo>
                    <a:pt x="58186" y="260481"/>
                  </a:lnTo>
                  <a:lnTo>
                    <a:pt x="83047" y="219003"/>
                  </a:lnTo>
                  <a:lnTo>
                    <a:pt x="111854" y="180161"/>
                  </a:lnTo>
                  <a:lnTo>
                    <a:pt x="144330" y="144330"/>
                  </a:lnTo>
                  <a:lnTo>
                    <a:pt x="180161" y="111854"/>
                  </a:lnTo>
                  <a:lnTo>
                    <a:pt x="219003" y="83047"/>
                  </a:lnTo>
                  <a:lnTo>
                    <a:pt x="260481" y="58186"/>
                  </a:lnTo>
                  <a:lnTo>
                    <a:pt x="304197" y="37510"/>
                  </a:lnTo>
                  <a:lnTo>
                    <a:pt x="349729" y="21218"/>
                  </a:lnTo>
                  <a:lnTo>
                    <a:pt x="396638" y="9468"/>
                  </a:lnTo>
                  <a:lnTo>
                    <a:pt x="444473" y="2372"/>
                  </a:lnTo>
                  <a:lnTo>
                    <a:pt x="492774" y="0"/>
                  </a:lnTo>
                  <a:lnTo>
                    <a:pt x="3477065" y="0"/>
                  </a:lnTo>
                  <a:lnTo>
                    <a:pt x="3525365" y="2372"/>
                  </a:lnTo>
                  <a:lnTo>
                    <a:pt x="3573199" y="9468"/>
                  </a:lnTo>
                  <a:lnTo>
                    <a:pt x="3620109" y="21218"/>
                  </a:lnTo>
                  <a:lnTo>
                    <a:pt x="3665641" y="37510"/>
                  </a:lnTo>
                  <a:lnTo>
                    <a:pt x="3709356" y="58186"/>
                  </a:lnTo>
                  <a:lnTo>
                    <a:pt x="3750835" y="83047"/>
                  </a:lnTo>
                  <a:lnTo>
                    <a:pt x="3789677" y="111854"/>
                  </a:lnTo>
                  <a:lnTo>
                    <a:pt x="3825509" y="144330"/>
                  </a:lnTo>
                  <a:lnTo>
                    <a:pt x="3857985" y="180161"/>
                  </a:lnTo>
                  <a:lnTo>
                    <a:pt x="3886791" y="219003"/>
                  </a:lnTo>
                  <a:lnTo>
                    <a:pt x="3911652" y="260481"/>
                  </a:lnTo>
                  <a:lnTo>
                    <a:pt x="3932328" y="304197"/>
                  </a:lnTo>
                  <a:lnTo>
                    <a:pt x="3948620" y="349729"/>
                  </a:lnTo>
                  <a:lnTo>
                    <a:pt x="3960370" y="396638"/>
                  </a:lnTo>
                  <a:lnTo>
                    <a:pt x="3967466" y="444473"/>
                  </a:lnTo>
                  <a:lnTo>
                    <a:pt x="3969839" y="492773"/>
                  </a:lnTo>
                  <a:lnTo>
                    <a:pt x="3969839" y="1533438"/>
                  </a:lnTo>
                  <a:lnTo>
                    <a:pt x="3967466" y="1581738"/>
                  </a:lnTo>
                  <a:lnTo>
                    <a:pt x="3960370" y="1629573"/>
                  </a:lnTo>
                  <a:lnTo>
                    <a:pt x="3948620" y="1676482"/>
                  </a:lnTo>
                  <a:lnTo>
                    <a:pt x="3932328" y="1722014"/>
                  </a:lnTo>
                  <a:lnTo>
                    <a:pt x="3911653" y="1765729"/>
                  </a:lnTo>
                  <a:lnTo>
                    <a:pt x="3886791" y="1807208"/>
                  </a:lnTo>
                  <a:lnTo>
                    <a:pt x="3857985" y="1846050"/>
                  </a:lnTo>
                  <a:lnTo>
                    <a:pt x="3825509" y="1881881"/>
                  </a:lnTo>
                  <a:lnTo>
                    <a:pt x="3789677" y="1914357"/>
                  </a:lnTo>
                  <a:lnTo>
                    <a:pt x="3750835" y="1943164"/>
                  </a:lnTo>
                  <a:lnTo>
                    <a:pt x="3709356" y="1968025"/>
                  </a:lnTo>
                  <a:lnTo>
                    <a:pt x="3665641" y="1988701"/>
                  </a:lnTo>
                  <a:lnTo>
                    <a:pt x="3620109" y="2004993"/>
                  </a:lnTo>
                  <a:lnTo>
                    <a:pt x="3573199" y="2016743"/>
                  </a:lnTo>
                  <a:lnTo>
                    <a:pt x="3525365" y="2023839"/>
                  </a:lnTo>
                  <a:lnTo>
                    <a:pt x="3477065" y="2026212"/>
                  </a:lnTo>
                  <a:close/>
                </a:path>
              </a:pathLst>
            </a:custGeom>
            <a:solidFill>
              <a:srgbClr val="ACE1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468071" y="3493667"/>
              <a:ext cx="3999865" cy="2056130"/>
            </a:xfrm>
            <a:custGeom>
              <a:avLst/>
              <a:gdLst/>
              <a:ahLst/>
              <a:cxnLst/>
              <a:rect l="l" t="t" r="r" b="b"/>
              <a:pathLst>
                <a:path w="3999865" h="2056129">
                  <a:moveTo>
                    <a:pt x="1865503" y="2039048"/>
                  </a:moveTo>
                  <a:lnTo>
                    <a:pt x="1852612" y="2026158"/>
                  </a:lnTo>
                  <a:lnTo>
                    <a:pt x="507644" y="2026158"/>
                  </a:lnTo>
                  <a:lnTo>
                    <a:pt x="495909" y="2025992"/>
                  </a:lnTo>
                  <a:lnTo>
                    <a:pt x="449148" y="2022500"/>
                  </a:lnTo>
                  <a:lnTo>
                    <a:pt x="402958" y="2014435"/>
                  </a:lnTo>
                  <a:lnTo>
                    <a:pt x="357771" y="2001901"/>
                  </a:lnTo>
                  <a:lnTo>
                    <a:pt x="314032" y="1984997"/>
                  </a:lnTo>
                  <a:lnTo>
                    <a:pt x="272161" y="1963889"/>
                  </a:lnTo>
                  <a:lnTo>
                    <a:pt x="232549" y="1938782"/>
                  </a:lnTo>
                  <a:lnTo>
                    <a:pt x="195592" y="1909914"/>
                  </a:lnTo>
                  <a:lnTo>
                    <a:pt x="161632" y="1877580"/>
                  </a:lnTo>
                  <a:lnTo>
                    <a:pt x="131000" y="1842071"/>
                  </a:lnTo>
                  <a:lnTo>
                    <a:pt x="104000" y="1803730"/>
                  </a:lnTo>
                  <a:lnTo>
                    <a:pt x="80873" y="1762937"/>
                  </a:lnTo>
                  <a:lnTo>
                    <a:pt x="61861" y="1720075"/>
                  </a:lnTo>
                  <a:lnTo>
                    <a:pt x="47129" y="1675561"/>
                  </a:lnTo>
                  <a:lnTo>
                    <a:pt x="36830" y="1629803"/>
                  </a:lnTo>
                  <a:lnTo>
                    <a:pt x="31051" y="1583270"/>
                  </a:lnTo>
                  <a:lnTo>
                    <a:pt x="29730" y="1548130"/>
                  </a:lnTo>
                  <a:lnTo>
                    <a:pt x="29730" y="723455"/>
                  </a:lnTo>
                  <a:lnTo>
                    <a:pt x="29349" y="721563"/>
                  </a:lnTo>
                  <a:lnTo>
                    <a:pt x="16840" y="710565"/>
                  </a:lnTo>
                  <a:lnTo>
                    <a:pt x="12903" y="710565"/>
                  </a:lnTo>
                  <a:lnTo>
                    <a:pt x="0" y="723455"/>
                  </a:lnTo>
                  <a:lnTo>
                    <a:pt x="0" y="1548130"/>
                  </a:lnTo>
                  <a:lnTo>
                    <a:pt x="2489" y="1597875"/>
                  </a:lnTo>
                  <a:lnTo>
                    <a:pt x="9842" y="1647139"/>
                  </a:lnTo>
                  <a:lnTo>
                    <a:pt x="21971" y="1695450"/>
                  </a:lnTo>
                  <a:lnTo>
                    <a:pt x="38773" y="1742338"/>
                  </a:lnTo>
                  <a:lnTo>
                    <a:pt x="60083" y="1787347"/>
                  </a:lnTo>
                  <a:lnTo>
                    <a:pt x="85699" y="1830070"/>
                  </a:lnTo>
                  <a:lnTo>
                    <a:pt x="115366" y="1870075"/>
                  </a:lnTo>
                  <a:lnTo>
                    <a:pt x="148818" y="1906981"/>
                  </a:lnTo>
                  <a:lnTo>
                    <a:pt x="185724" y="1940433"/>
                  </a:lnTo>
                  <a:lnTo>
                    <a:pt x="225717" y="1970125"/>
                  </a:lnTo>
                  <a:lnTo>
                    <a:pt x="268427" y="1995754"/>
                  </a:lnTo>
                  <a:lnTo>
                    <a:pt x="313448" y="2017064"/>
                  </a:lnTo>
                  <a:lnTo>
                    <a:pt x="360324" y="2033879"/>
                  </a:lnTo>
                  <a:lnTo>
                    <a:pt x="408635" y="2046020"/>
                  </a:lnTo>
                  <a:lnTo>
                    <a:pt x="457898" y="2053386"/>
                  </a:lnTo>
                  <a:lnTo>
                    <a:pt x="507644" y="2055876"/>
                  </a:lnTo>
                  <a:lnTo>
                    <a:pt x="1850644" y="2055876"/>
                  </a:lnTo>
                  <a:lnTo>
                    <a:pt x="1852612" y="2055876"/>
                  </a:lnTo>
                  <a:lnTo>
                    <a:pt x="1865503" y="2042985"/>
                  </a:lnTo>
                  <a:lnTo>
                    <a:pt x="1865503" y="2039048"/>
                  </a:lnTo>
                  <a:close/>
                </a:path>
                <a:path w="3999865" h="2056129">
                  <a:moveTo>
                    <a:pt x="3999573" y="507644"/>
                  </a:moveTo>
                  <a:lnTo>
                    <a:pt x="3997071" y="457898"/>
                  </a:lnTo>
                  <a:lnTo>
                    <a:pt x="3989717" y="408647"/>
                  </a:lnTo>
                  <a:lnTo>
                    <a:pt x="3977576" y="360349"/>
                  </a:lnTo>
                  <a:lnTo>
                    <a:pt x="3960774" y="313461"/>
                  </a:lnTo>
                  <a:lnTo>
                    <a:pt x="3939451" y="268452"/>
                  </a:lnTo>
                  <a:lnTo>
                    <a:pt x="3913835" y="225755"/>
                  </a:lnTo>
                  <a:lnTo>
                    <a:pt x="3884168" y="185750"/>
                  </a:lnTo>
                  <a:lnTo>
                    <a:pt x="3850716" y="148856"/>
                  </a:lnTo>
                  <a:lnTo>
                    <a:pt x="3813822" y="115404"/>
                  </a:lnTo>
                  <a:lnTo>
                    <a:pt x="3773817" y="85737"/>
                  </a:lnTo>
                  <a:lnTo>
                    <a:pt x="3731120" y="60121"/>
                  </a:lnTo>
                  <a:lnTo>
                    <a:pt x="3686111" y="38798"/>
                  </a:lnTo>
                  <a:lnTo>
                    <a:pt x="3639223" y="21996"/>
                  </a:lnTo>
                  <a:lnTo>
                    <a:pt x="3590925" y="9855"/>
                  </a:lnTo>
                  <a:lnTo>
                    <a:pt x="3541674" y="2501"/>
                  </a:lnTo>
                  <a:lnTo>
                    <a:pt x="3491928" y="0"/>
                  </a:lnTo>
                  <a:lnTo>
                    <a:pt x="1042860" y="0"/>
                  </a:lnTo>
                  <a:lnTo>
                    <a:pt x="1029970" y="12890"/>
                  </a:lnTo>
                  <a:lnTo>
                    <a:pt x="1029970" y="16840"/>
                  </a:lnTo>
                  <a:lnTo>
                    <a:pt x="3491928" y="29730"/>
                  </a:lnTo>
                  <a:lnTo>
                    <a:pt x="3503663" y="29883"/>
                  </a:lnTo>
                  <a:lnTo>
                    <a:pt x="3550412" y="33388"/>
                  </a:lnTo>
                  <a:lnTo>
                    <a:pt x="3596602" y="41440"/>
                  </a:lnTo>
                  <a:lnTo>
                    <a:pt x="3641788" y="53975"/>
                  </a:lnTo>
                  <a:lnTo>
                    <a:pt x="3685514" y="70878"/>
                  </a:lnTo>
                  <a:lnTo>
                    <a:pt x="3727386" y="91973"/>
                  </a:lnTo>
                  <a:lnTo>
                    <a:pt x="3766985" y="117068"/>
                  </a:lnTo>
                  <a:lnTo>
                    <a:pt x="3803942" y="145923"/>
                  </a:lnTo>
                  <a:lnTo>
                    <a:pt x="3837902" y="178257"/>
                  </a:lnTo>
                  <a:lnTo>
                    <a:pt x="3868534" y="213753"/>
                  </a:lnTo>
                  <a:lnTo>
                    <a:pt x="3895534" y="252082"/>
                  </a:lnTo>
                  <a:lnTo>
                    <a:pt x="3918661" y="292862"/>
                  </a:lnTo>
                  <a:lnTo>
                    <a:pt x="3937685" y="335724"/>
                  </a:lnTo>
                  <a:lnTo>
                    <a:pt x="3952417" y="380225"/>
                  </a:lnTo>
                  <a:lnTo>
                    <a:pt x="3962730" y="425970"/>
                  </a:lnTo>
                  <a:lnTo>
                    <a:pt x="3968508" y="472490"/>
                  </a:lnTo>
                  <a:lnTo>
                    <a:pt x="3969842" y="507644"/>
                  </a:lnTo>
                  <a:lnTo>
                    <a:pt x="3969842" y="1548130"/>
                  </a:lnTo>
                  <a:lnTo>
                    <a:pt x="3967657" y="1594993"/>
                  </a:lnTo>
                  <a:lnTo>
                    <a:pt x="3960850" y="1641411"/>
                  </a:lnTo>
                  <a:lnTo>
                    <a:pt x="3949496" y="1686928"/>
                  </a:lnTo>
                  <a:lnTo>
                    <a:pt x="3933698" y="1731098"/>
                  </a:lnTo>
                  <a:lnTo>
                    <a:pt x="3913619" y="1773504"/>
                  </a:lnTo>
                  <a:lnTo>
                    <a:pt x="3889451" y="1813712"/>
                  </a:lnTo>
                  <a:lnTo>
                    <a:pt x="3861435" y="1851342"/>
                  </a:lnTo>
                  <a:lnTo>
                    <a:pt x="3828440" y="1887410"/>
                  </a:lnTo>
                  <a:lnTo>
                    <a:pt x="3827373" y="1889023"/>
                  </a:lnTo>
                  <a:lnTo>
                    <a:pt x="3825875" y="1892668"/>
                  </a:lnTo>
                  <a:lnTo>
                    <a:pt x="3825506" y="1894573"/>
                  </a:lnTo>
                  <a:lnTo>
                    <a:pt x="3825506" y="1898510"/>
                  </a:lnTo>
                  <a:lnTo>
                    <a:pt x="3836238" y="1911413"/>
                  </a:lnTo>
                  <a:lnTo>
                    <a:pt x="3840353" y="1911400"/>
                  </a:lnTo>
                  <a:lnTo>
                    <a:pt x="3844480" y="1911438"/>
                  </a:lnTo>
                  <a:lnTo>
                    <a:pt x="3884485" y="1870214"/>
                  </a:lnTo>
                  <a:lnTo>
                    <a:pt x="3914229" y="1830235"/>
                  </a:lnTo>
                  <a:lnTo>
                    <a:pt x="3939895" y="1787525"/>
                  </a:lnTo>
                  <a:lnTo>
                    <a:pt x="3961206" y="1742478"/>
                  </a:lnTo>
                  <a:lnTo>
                    <a:pt x="3977970" y="1695551"/>
                  </a:lnTo>
                  <a:lnTo>
                    <a:pt x="3990022" y="1647202"/>
                  </a:lnTo>
                  <a:lnTo>
                    <a:pt x="3997261" y="1597901"/>
                  </a:lnTo>
                  <a:lnTo>
                    <a:pt x="3999573" y="1548130"/>
                  </a:lnTo>
                  <a:lnTo>
                    <a:pt x="3999573" y="50764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4" name="object 34"/>
          <p:cNvSpPr txBox="1"/>
          <p:nvPr/>
        </p:nvSpPr>
        <p:spPr>
          <a:xfrm>
            <a:off x="10618909" y="1652886"/>
            <a:ext cx="1067223" cy="203474"/>
          </a:xfrm>
          <a:prstGeom prst="rect">
            <a:avLst/>
          </a:prstGeom>
        </p:spPr>
        <p:txBody>
          <a:bodyPr vert="horz" wrap="square" lIns="0" tIns="18626" rIns="0" bIns="0" rtlCol="0">
            <a:spAutoFit/>
          </a:bodyPr>
          <a:lstStyle/>
          <a:p>
            <a:r>
              <a:rPr lang="en-IN" sz="1200" b="1" dirty="0"/>
              <a:t>Organizations</a:t>
            </a:r>
          </a:p>
        </p:txBody>
      </p:sp>
      <p:sp>
        <p:nvSpPr>
          <p:cNvPr id="35" name="object 35"/>
          <p:cNvSpPr txBox="1"/>
          <p:nvPr/>
        </p:nvSpPr>
        <p:spPr>
          <a:xfrm>
            <a:off x="388744" y="2566659"/>
            <a:ext cx="2420275" cy="895652"/>
          </a:xfrm>
          <a:prstGeom prst="rect">
            <a:avLst/>
          </a:prstGeom>
        </p:spPr>
        <p:txBody>
          <a:bodyPr vert="horz" wrap="square" lIns="0" tIns="11007" rIns="0" bIns="0" rtlCol="0">
            <a:spAutoFit/>
          </a:bodyPr>
          <a:lstStyle/>
          <a:p>
            <a:pPr marL="179917" indent="-171450">
              <a:spcBef>
                <a:spcPts val="87"/>
              </a:spcBef>
              <a:buFont typeface="Arial" panose="020B0604020202020204" pitchFamily="34" charset="0"/>
              <a:buChar char="•"/>
            </a:pPr>
            <a:r>
              <a:rPr lang="en-US" sz="1133" dirty="0">
                <a:latin typeface="Georgia"/>
                <a:cs typeface="Georgia"/>
              </a:rPr>
              <a:t>Gain real-time order updates and transparent tracking experience.</a:t>
            </a:r>
          </a:p>
          <a:p>
            <a:pPr marL="179917" indent="-171450">
              <a:spcBef>
                <a:spcPts val="87"/>
              </a:spcBef>
              <a:buFont typeface="Arial" panose="020B0604020202020204" pitchFamily="34" charset="0"/>
              <a:buChar char="•"/>
            </a:pPr>
            <a:r>
              <a:rPr lang="en-US" sz="1133" dirty="0">
                <a:latin typeface="Georgia"/>
                <a:cs typeface="Georgia"/>
              </a:rPr>
              <a:t>Improves convenience, trust, and engagement with real-time services.</a:t>
            </a:r>
            <a:endParaRPr sz="1133" dirty="0">
              <a:latin typeface="Georgia"/>
              <a:cs typeface="Georgia"/>
            </a:endParaRPr>
          </a:p>
        </p:txBody>
      </p:sp>
      <p:grpSp>
        <p:nvGrpSpPr>
          <p:cNvPr id="39" name="object 39"/>
          <p:cNvGrpSpPr/>
          <p:nvPr/>
        </p:nvGrpSpPr>
        <p:grpSpPr>
          <a:xfrm>
            <a:off x="639381" y="1936532"/>
            <a:ext cx="5484283" cy="1763183"/>
            <a:chOff x="959070" y="2904797"/>
            <a:chExt cx="8226425" cy="2644775"/>
          </a:xfrm>
        </p:grpSpPr>
        <p:sp>
          <p:nvSpPr>
            <p:cNvPr id="40" name="object 40"/>
            <p:cNvSpPr/>
            <p:nvPr/>
          </p:nvSpPr>
          <p:spPr>
            <a:xfrm>
              <a:off x="1073370" y="2933372"/>
              <a:ext cx="0" cy="457200"/>
            </a:xfrm>
            <a:custGeom>
              <a:avLst/>
              <a:gdLst/>
              <a:ahLst/>
              <a:cxnLst/>
              <a:rect l="l" t="t" r="r" b="b"/>
              <a:pathLst>
                <a:path h="457200">
                  <a:moveTo>
                    <a:pt x="0" y="0"/>
                  </a:moveTo>
                  <a:lnTo>
                    <a:pt x="0" y="456601"/>
                  </a:lnTo>
                </a:path>
              </a:pathLst>
            </a:custGeom>
            <a:ln w="57149">
              <a:solidFill>
                <a:srgbClr val="004A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1" name="object 41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959070" y="3389974"/>
              <a:ext cx="228599" cy="171449"/>
            </a:xfrm>
            <a:prstGeom prst="rect">
              <a:avLst/>
            </a:prstGeom>
          </p:spPr>
        </p:pic>
        <p:sp>
          <p:nvSpPr>
            <p:cNvPr id="42" name="object 42"/>
            <p:cNvSpPr/>
            <p:nvPr/>
          </p:nvSpPr>
          <p:spPr>
            <a:xfrm>
              <a:off x="5051241" y="3359231"/>
              <a:ext cx="3970020" cy="2026285"/>
            </a:xfrm>
            <a:custGeom>
              <a:avLst/>
              <a:gdLst/>
              <a:ahLst/>
              <a:cxnLst/>
              <a:rect l="l" t="t" r="r" b="b"/>
              <a:pathLst>
                <a:path w="3970020" h="2026285">
                  <a:moveTo>
                    <a:pt x="3477065" y="2026212"/>
                  </a:moveTo>
                  <a:lnTo>
                    <a:pt x="492774" y="2026212"/>
                  </a:lnTo>
                  <a:lnTo>
                    <a:pt x="480677" y="2026064"/>
                  </a:lnTo>
                  <a:lnTo>
                    <a:pt x="432449" y="2022506"/>
                  </a:lnTo>
                  <a:lnTo>
                    <a:pt x="384803" y="2014237"/>
                  </a:lnTo>
                  <a:lnTo>
                    <a:pt x="338196" y="2001339"/>
                  </a:lnTo>
                  <a:lnTo>
                    <a:pt x="293078" y="1983935"/>
                  </a:lnTo>
                  <a:lnTo>
                    <a:pt x="249883" y="1962192"/>
                  </a:lnTo>
                  <a:lnTo>
                    <a:pt x="209027" y="1936320"/>
                  </a:lnTo>
                  <a:lnTo>
                    <a:pt x="170904" y="1906568"/>
                  </a:lnTo>
                  <a:lnTo>
                    <a:pt x="135881" y="1873223"/>
                  </a:lnTo>
                  <a:lnTo>
                    <a:pt x="104294" y="1836605"/>
                  </a:lnTo>
                  <a:lnTo>
                    <a:pt x="76449" y="1797068"/>
                  </a:lnTo>
                  <a:lnTo>
                    <a:pt x="52614" y="1754991"/>
                  </a:lnTo>
                  <a:lnTo>
                    <a:pt x="33017" y="1710781"/>
                  </a:lnTo>
                  <a:lnTo>
                    <a:pt x="17849" y="1664863"/>
                  </a:lnTo>
                  <a:lnTo>
                    <a:pt x="7253" y="1617680"/>
                  </a:lnTo>
                  <a:lnTo>
                    <a:pt x="1334" y="1569685"/>
                  </a:lnTo>
                  <a:lnTo>
                    <a:pt x="0" y="1533438"/>
                  </a:lnTo>
                  <a:lnTo>
                    <a:pt x="0" y="492773"/>
                  </a:lnTo>
                  <a:lnTo>
                    <a:pt x="2372" y="444473"/>
                  </a:lnTo>
                  <a:lnTo>
                    <a:pt x="9468" y="396638"/>
                  </a:lnTo>
                  <a:lnTo>
                    <a:pt x="21218" y="349729"/>
                  </a:lnTo>
                  <a:lnTo>
                    <a:pt x="37510" y="304197"/>
                  </a:lnTo>
                  <a:lnTo>
                    <a:pt x="58186" y="260481"/>
                  </a:lnTo>
                  <a:lnTo>
                    <a:pt x="83047" y="219003"/>
                  </a:lnTo>
                  <a:lnTo>
                    <a:pt x="111854" y="180161"/>
                  </a:lnTo>
                  <a:lnTo>
                    <a:pt x="144330" y="144330"/>
                  </a:lnTo>
                  <a:lnTo>
                    <a:pt x="180161" y="111854"/>
                  </a:lnTo>
                  <a:lnTo>
                    <a:pt x="219003" y="83047"/>
                  </a:lnTo>
                  <a:lnTo>
                    <a:pt x="260481" y="58186"/>
                  </a:lnTo>
                  <a:lnTo>
                    <a:pt x="304197" y="37510"/>
                  </a:lnTo>
                  <a:lnTo>
                    <a:pt x="349729" y="21218"/>
                  </a:lnTo>
                  <a:lnTo>
                    <a:pt x="396638" y="9468"/>
                  </a:lnTo>
                  <a:lnTo>
                    <a:pt x="444473" y="2372"/>
                  </a:lnTo>
                  <a:lnTo>
                    <a:pt x="492774" y="0"/>
                  </a:lnTo>
                  <a:lnTo>
                    <a:pt x="3477065" y="0"/>
                  </a:lnTo>
                  <a:lnTo>
                    <a:pt x="3525365" y="2372"/>
                  </a:lnTo>
                  <a:lnTo>
                    <a:pt x="3573199" y="9468"/>
                  </a:lnTo>
                  <a:lnTo>
                    <a:pt x="3620109" y="21218"/>
                  </a:lnTo>
                  <a:lnTo>
                    <a:pt x="3665641" y="37510"/>
                  </a:lnTo>
                  <a:lnTo>
                    <a:pt x="3709356" y="58186"/>
                  </a:lnTo>
                  <a:lnTo>
                    <a:pt x="3750835" y="83047"/>
                  </a:lnTo>
                  <a:lnTo>
                    <a:pt x="3789677" y="111854"/>
                  </a:lnTo>
                  <a:lnTo>
                    <a:pt x="3825509" y="144330"/>
                  </a:lnTo>
                  <a:lnTo>
                    <a:pt x="3857985" y="180161"/>
                  </a:lnTo>
                  <a:lnTo>
                    <a:pt x="3886791" y="219003"/>
                  </a:lnTo>
                  <a:lnTo>
                    <a:pt x="3911652" y="260481"/>
                  </a:lnTo>
                  <a:lnTo>
                    <a:pt x="3932328" y="304197"/>
                  </a:lnTo>
                  <a:lnTo>
                    <a:pt x="3948620" y="349729"/>
                  </a:lnTo>
                  <a:lnTo>
                    <a:pt x="3960370" y="396638"/>
                  </a:lnTo>
                  <a:lnTo>
                    <a:pt x="3967466" y="444473"/>
                  </a:lnTo>
                  <a:lnTo>
                    <a:pt x="3969839" y="492773"/>
                  </a:lnTo>
                  <a:lnTo>
                    <a:pt x="3969839" y="1533438"/>
                  </a:lnTo>
                  <a:lnTo>
                    <a:pt x="3967466" y="1581738"/>
                  </a:lnTo>
                  <a:lnTo>
                    <a:pt x="3960370" y="1629573"/>
                  </a:lnTo>
                  <a:lnTo>
                    <a:pt x="3948620" y="1676482"/>
                  </a:lnTo>
                  <a:lnTo>
                    <a:pt x="3932328" y="1722014"/>
                  </a:lnTo>
                  <a:lnTo>
                    <a:pt x="3911653" y="1765729"/>
                  </a:lnTo>
                  <a:lnTo>
                    <a:pt x="3886791" y="1807208"/>
                  </a:lnTo>
                  <a:lnTo>
                    <a:pt x="3857985" y="1846050"/>
                  </a:lnTo>
                  <a:lnTo>
                    <a:pt x="3825509" y="1881881"/>
                  </a:lnTo>
                  <a:lnTo>
                    <a:pt x="3789677" y="1914357"/>
                  </a:lnTo>
                  <a:lnTo>
                    <a:pt x="3750835" y="1943164"/>
                  </a:lnTo>
                  <a:lnTo>
                    <a:pt x="3709356" y="1968025"/>
                  </a:lnTo>
                  <a:lnTo>
                    <a:pt x="3665641" y="1988701"/>
                  </a:lnTo>
                  <a:lnTo>
                    <a:pt x="3620109" y="2004993"/>
                  </a:lnTo>
                  <a:lnTo>
                    <a:pt x="3573199" y="2016743"/>
                  </a:lnTo>
                  <a:lnTo>
                    <a:pt x="3525365" y="2023839"/>
                  </a:lnTo>
                  <a:lnTo>
                    <a:pt x="3477065" y="2026212"/>
                  </a:lnTo>
                  <a:close/>
                </a:path>
              </a:pathLst>
            </a:custGeom>
            <a:solidFill>
              <a:srgbClr val="ACE1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3" name="object 43"/>
            <p:cNvSpPr/>
            <p:nvPr/>
          </p:nvSpPr>
          <p:spPr>
            <a:xfrm>
              <a:off x="5185486" y="3493667"/>
              <a:ext cx="3999865" cy="2056130"/>
            </a:xfrm>
            <a:custGeom>
              <a:avLst/>
              <a:gdLst/>
              <a:ahLst/>
              <a:cxnLst/>
              <a:rect l="l" t="t" r="r" b="b"/>
              <a:pathLst>
                <a:path w="3999865" h="2056129">
                  <a:moveTo>
                    <a:pt x="1865503" y="2039048"/>
                  </a:moveTo>
                  <a:lnTo>
                    <a:pt x="1852612" y="2026158"/>
                  </a:lnTo>
                  <a:lnTo>
                    <a:pt x="507644" y="2026158"/>
                  </a:lnTo>
                  <a:lnTo>
                    <a:pt x="495909" y="2025992"/>
                  </a:lnTo>
                  <a:lnTo>
                    <a:pt x="449148" y="2022500"/>
                  </a:lnTo>
                  <a:lnTo>
                    <a:pt x="402945" y="2014435"/>
                  </a:lnTo>
                  <a:lnTo>
                    <a:pt x="357771" y="2001901"/>
                  </a:lnTo>
                  <a:lnTo>
                    <a:pt x="314032" y="1984997"/>
                  </a:lnTo>
                  <a:lnTo>
                    <a:pt x="272148" y="1963889"/>
                  </a:lnTo>
                  <a:lnTo>
                    <a:pt x="232549" y="1938782"/>
                  </a:lnTo>
                  <a:lnTo>
                    <a:pt x="195580" y="1909914"/>
                  </a:lnTo>
                  <a:lnTo>
                    <a:pt x="161632" y="1877580"/>
                  </a:lnTo>
                  <a:lnTo>
                    <a:pt x="131000" y="1842071"/>
                  </a:lnTo>
                  <a:lnTo>
                    <a:pt x="104000" y="1803730"/>
                  </a:lnTo>
                  <a:lnTo>
                    <a:pt x="80873" y="1762937"/>
                  </a:lnTo>
                  <a:lnTo>
                    <a:pt x="61861" y="1720075"/>
                  </a:lnTo>
                  <a:lnTo>
                    <a:pt x="47129" y="1675561"/>
                  </a:lnTo>
                  <a:lnTo>
                    <a:pt x="36830" y="1629803"/>
                  </a:lnTo>
                  <a:lnTo>
                    <a:pt x="31051" y="1583270"/>
                  </a:lnTo>
                  <a:lnTo>
                    <a:pt x="29730" y="1548130"/>
                  </a:lnTo>
                  <a:lnTo>
                    <a:pt x="29730" y="723455"/>
                  </a:lnTo>
                  <a:lnTo>
                    <a:pt x="29349" y="721563"/>
                  </a:lnTo>
                  <a:lnTo>
                    <a:pt x="16840" y="710565"/>
                  </a:lnTo>
                  <a:lnTo>
                    <a:pt x="12890" y="710565"/>
                  </a:lnTo>
                  <a:lnTo>
                    <a:pt x="0" y="723455"/>
                  </a:lnTo>
                  <a:lnTo>
                    <a:pt x="0" y="1548130"/>
                  </a:lnTo>
                  <a:lnTo>
                    <a:pt x="2489" y="1597875"/>
                  </a:lnTo>
                  <a:lnTo>
                    <a:pt x="9829" y="1647139"/>
                  </a:lnTo>
                  <a:lnTo>
                    <a:pt x="21971" y="1695450"/>
                  </a:lnTo>
                  <a:lnTo>
                    <a:pt x="38773" y="1742338"/>
                  </a:lnTo>
                  <a:lnTo>
                    <a:pt x="60083" y="1787347"/>
                  </a:lnTo>
                  <a:lnTo>
                    <a:pt x="85699" y="1830070"/>
                  </a:lnTo>
                  <a:lnTo>
                    <a:pt x="115366" y="1870075"/>
                  </a:lnTo>
                  <a:lnTo>
                    <a:pt x="148818" y="1906981"/>
                  </a:lnTo>
                  <a:lnTo>
                    <a:pt x="185712" y="1940433"/>
                  </a:lnTo>
                  <a:lnTo>
                    <a:pt x="225717" y="1970125"/>
                  </a:lnTo>
                  <a:lnTo>
                    <a:pt x="268427" y="1995754"/>
                  </a:lnTo>
                  <a:lnTo>
                    <a:pt x="313436" y="2017064"/>
                  </a:lnTo>
                  <a:lnTo>
                    <a:pt x="360324" y="2033879"/>
                  </a:lnTo>
                  <a:lnTo>
                    <a:pt x="408635" y="2046020"/>
                  </a:lnTo>
                  <a:lnTo>
                    <a:pt x="457898" y="2053386"/>
                  </a:lnTo>
                  <a:lnTo>
                    <a:pt x="507644" y="2055876"/>
                  </a:lnTo>
                  <a:lnTo>
                    <a:pt x="1850644" y="2055876"/>
                  </a:lnTo>
                  <a:lnTo>
                    <a:pt x="1852612" y="2055876"/>
                  </a:lnTo>
                  <a:lnTo>
                    <a:pt x="1865503" y="2042985"/>
                  </a:lnTo>
                  <a:lnTo>
                    <a:pt x="1865503" y="2039048"/>
                  </a:lnTo>
                  <a:close/>
                </a:path>
                <a:path w="3999865" h="2056129">
                  <a:moveTo>
                    <a:pt x="3999573" y="507644"/>
                  </a:moveTo>
                  <a:lnTo>
                    <a:pt x="3997071" y="457898"/>
                  </a:lnTo>
                  <a:lnTo>
                    <a:pt x="3989717" y="408647"/>
                  </a:lnTo>
                  <a:lnTo>
                    <a:pt x="3977576" y="360349"/>
                  </a:lnTo>
                  <a:lnTo>
                    <a:pt x="3960774" y="313461"/>
                  </a:lnTo>
                  <a:lnTo>
                    <a:pt x="3939451" y="268452"/>
                  </a:lnTo>
                  <a:lnTo>
                    <a:pt x="3913835" y="225755"/>
                  </a:lnTo>
                  <a:lnTo>
                    <a:pt x="3884155" y="185750"/>
                  </a:lnTo>
                  <a:lnTo>
                    <a:pt x="3850716" y="148856"/>
                  </a:lnTo>
                  <a:lnTo>
                    <a:pt x="3813810" y="115404"/>
                  </a:lnTo>
                  <a:lnTo>
                    <a:pt x="3773817" y="85737"/>
                  </a:lnTo>
                  <a:lnTo>
                    <a:pt x="3731107" y="60121"/>
                  </a:lnTo>
                  <a:lnTo>
                    <a:pt x="3686098" y="38798"/>
                  </a:lnTo>
                  <a:lnTo>
                    <a:pt x="3639223" y="21996"/>
                  </a:lnTo>
                  <a:lnTo>
                    <a:pt x="3590925" y="9855"/>
                  </a:lnTo>
                  <a:lnTo>
                    <a:pt x="3541674" y="2501"/>
                  </a:lnTo>
                  <a:lnTo>
                    <a:pt x="3491928" y="0"/>
                  </a:lnTo>
                  <a:lnTo>
                    <a:pt x="1042860" y="0"/>
                  </a:lnTo>
                  <a:lnTo>
                    <a:pt x="1029957" y="12890"/>
                  </a:lnTo>
                  <a:lnTo>
                    <a:pt x="1029957" y="16840"/>
                  </a:lnTo>
                  <a:lnTo>
                    <a:pt x="3491928" y="29730"/>
                  </a:lnTo>
                  <a:lnTo>
                    <a:pt x="3503663" y="29883"/>
                  </a:lnTo>
                  <a:lnTo>
                    <a:pt x="3550412" y="33388"/>
                  </a:lnTo>
                  <a:lnTo>
                    <a:pt x="3596602" y="41440"/>
                  </a:lnTo>
                  <a:lnTo>
                    <a:pt x="3641775" y="53975"/>
                  </a:lnTo>
                  <a:lnTo>
                    <a:pt x="3685514" y="70878"/>
                  </a:lnTo>
                  <a:lnTo>
                    <a:pt x="3727386" y="91973"/>
                  </a:lnTo>
                  <a:lnTo>
                    <a:pt x="3766985" y="117068"/>
                  </a:lnTo>
                  <a:lnTo>
                    <a:pt x="3803942" y="145923"/>
                  </a:lnTo>
                  <a:lnTo>
                    <a:pt x="3837902" y="178257"/>
                  </a:lnTo>
                  <a:lnTo>
                    <a:pt x="3868521" y="213753"/>
                  </a:lnTo>
                  <a:lnTo>
                    <a:pt x="3895534" y="252082"/>
                  </a:lnTo>
                  <a:lnTo>
                    <a:pt x="3918661" y="292862"/>
                  </a:lnTo>
                  <a:lnTo>
                    <a:pt x="3937685" y="335724"/>
                  </a:lnTo>
                  <a:lnTo>
                    <a:pt x="3952417" y="380225"/>
                  </a:lnTo>
                  <a:lnTo>
                    <a:pt x="3962730" y="425970"/>
                  </a:lnTo>
                  <a:lnTo>
                    <a:pt x="3968508" y="472490"/>
                  </a:lnTo>
                  <a:lnTo>
                    <a:pt x="3969842" y="507644"/>
                  </a:lnTo>
                  <a:lnTo>
                    <a:pt x="3969842" y="1548130"/>
                  </a:lnTo>
                  <a:lnTo>
                    <a:pt x="3967657" y="1594993"/>
                  </a:lnTo>
                  <a:lnTo>
                    <a:pt x="3960850" y="1641411"/>
                  </a:lnTo>
                  <a:lnTo>
                    <a:pt x="3949496" y="1686928"/>
                  </a:lnTo>
                  <a:lnTo>
                    <a:pt x="3933698" y="1731098"/>
                  </a:lnTo>
                  <a:lnTo>
                    <a:pt x="3913619" y="1773504"/>
                  </a:lnTo>
                  <a:lnTo>
                    <a:pt x="3889438" y="1813712"/>
                  </a:lnTo>
                  <a:lnTo>
                    <a:pt x="3861422" y="1851342"/>
                  </a:lnTo>
                  <a:lnTo>
                    <a:pt x="3828440" y="1887410"/>
                  </a:lnTo>
                  <a:lnTo>
                    <a:pt x="3827373" y="1889023"/>
                  </a:lnTo>
                  <a:lnTo>
                    <a:pt x="3825875" y="1892668"/>
                  </a:lnTo>
                  <a:lnTo>
                    <a:pt x="3825506" y="1894573"/>
                  </a:lnTo>
                  <a:lnTo>
                    <a:pt x="3825506" y="1898510"/>
                  </a:lnTo>
                  <a:lnTo>
                    <a:pt x="3836238" y="1911413"/>
                  </a:lnTo>
                  <a:lnTo>
                    <a:pt x="3840340" y="1911400"/>
                  </a:lnTo>
                  <a:lnTo>
                    <a:pt x="3844480" y="1911438"/>
                  </a:lnTo>
                  <a:lnTo>
                    <a:pt x="3884485" y="1870214"/>
                  </a:lnTo>
                  <a:lnTo>
                    <a:pt x="3914229" y="1830235"/>
                  </a:lnTo>
                  <a:lnTo>
                    <a:pt x="3939883" y="1787525"/>
                  </a:lnTo>
                  <a:lnTo>
                    <a:pt x="3961193" y="1742478"/>
                  </a:lnTo>
                  <a:lnTo>
                    <a:pt x="3977970" y="1695551"/>
                  </a:lnTo>
                  <a:lnTo>
                    <a:pt x="3990022" y="1647202"/>
                  </a:lnTo>
                  <a:lnTo>
                    <a:pt x="3997248" y="1597901"/>
                  </a:lnTo>
                  <a:lnTo>
                    <a:pt x="3999573" y="1548130"/>
                  </a:lnTo>
                  <a:lnTo>
                    <a:pt x="3999573" y="50764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4" name="object 44"/>
          <p:cNvSpPr txBox="1"/>
          <p:nvPr/>
        </p:nvSpPr>
        <p:spPr>
          <a:xfrm>
            <a:off x="3587601" y="2427309"/>
            <a:ext cx="2273500" cy="1069994"/>
          </a:xfrm>
          <a:prstGeom prst="rect">
            <a:avLst/>
          </a:prstGeom>
        </p:spPr>
        <p:txBody>
          <a:bodyPr vert="horz" wrap="square" lIns="0" tIns="11007" rIns="0" bIns="0" rtlCol="0">
            <a:spAutoFit/>
          </a:bodyPr>
          <a:lstStyle/>
          <a:p>
            <a:pPr marL="179917" indent="-171450">
              <a:spcBef>
                <a:spcPts val="87"/>
              </a:spcBef>
              <a:buFont typeface="Arial" panose="020B0604020202020204" pitchFamily="34" charset="0"/>
              <a:buChar char="•"/>
            </a:pPr>
            <a:r>
              <a:rPr lang="en-US" sz="1133" spc="-13" dirty="0">
                <a:latin typeface="Georgia"/>
                <a:cs typeface="Georgia"/>
              </a:rPr>
              <a:t>Understand practical implementation of OS concepts like scheduling and concurrency.</a:t>
            </a:r>
          </a:p>
          <a:p>
            <a:pPr marL="179917" indent="-171450">
              <a:spcBef>
                <a:spcPts val="87"/>
              </a:spcBef>
              <a:buFont typeface="Arial" panose="020B0604020202020204" pitchFamily="34" charset="0"/>
              <a:buChar char="•"/>
            </a:pPr>
            <a:r>
              <a:rPr lang="en-US" sz="1133" spc="-13" dirty="0">
                <a:latin typeface="Georgia"/>
                <a:cs typeface="Georgia"/>
              </a:rPr>
              <a:t>Helps visualize system performance and process behavior.</a:t>
            </a:r>
            <a:endParaRPr sz="1133" dirty="0">
              <a:latin typeface="Georgia"/>
              <a:cs typeface="Georgia"/>
            </a:endParaRPr>
          </a:p>
        </p:txBody>
      </p:sp>
      <p:grpSp>
        <p:nvGrpSpPr>
          <p:cNvPr id="54" name="object 54"/>
          <p:cNvGrpSpPr/>
          <p:nvPr/>
        </p:nvGrpSpPr>
        <p:grpSpPr>
          <a:xfrm>
            <a:off x="6364793" y="2239486"/>
            <a:ext cx="2756074" cy="1460376"/>
            <a:chOff x="9547192" y="3359232"/>
            <a:chExt cx="4134112" cy="2190565"/>
          </a:xfrm>
        </p:grpSpPr>
        <p:sp>
          <p:nvSpPr>
            <p:cNvPr id="55" name="object 55"/>
            <p:cNvSpPr/>
            <p:nvPr/>
          </p:nvSpPr>
          <p:spPr>
            <a:xfrm>
              <a:off x="9547192" y="3359232"/>
              <a:ext cx="3970020" cy="2026286"/>
            </a:xfrm>
            <a:custGeom>
              <a:avLst/>
              <a:gdLst/>
              <a:ahLst/>
              <a:cxnLst/>
              <a:rect l="l" t="t" r="r" b="b"/>
              <a:pathLst>
                <a:path w="3970019" h="2026285">
                  <a:moveTo>
                    <a:pt x="3477065" y="2026212"/>
                  </a:moveTo>
                  <a:lnTo>
                    <a:pt x="492774" y="2026212"/>
                  </a:lnTo>
                  <a:lnTo>
                    <a:pt x="480677" y="2026064"/>
                  </a:lnTo>
                  <a:lnTo>
                    <a:pt x="432449" y="2022506"/>
                  </a:lnTo>
                  <a:lnTo>
                    <a:pt x="384803" y="2014237"/>
                  </a:lnTo>
                  <a:lnTo>
                    <a:pt x="338196" y="2001339"/>
                  </a:lnTo>
                  <a:lnTo>
                    <a:pt x="293078" y="1983935"/>
                  </a:lnTo>
                  <a:lnTo>
                    <a:pt x="249883" y="1962192"/>
                  </a:lnTo>
                  <a:lnTo>
                    <a:pt x="209027" y="1936320"/>
                  </a:lnTo>
                  <a:lnTo>
                    <a:pt x="170904" y="1906568"/>
                  </a:lnTo>
                  <a:lnTo>
                    <a:pt x="135881" y="1873223"/>
                  </a:lnTo>
                  <a:lnTo>
                    <a:pt x="104294" y="1836605"/>
                  </a:lnTo>
                  <a:lnTo>
                    <a:pt x="76449" y="1797068"/>
                  </a:lnTo>
                  <a:lnTo>
                    <a:pt x="52614" y="1754991"/>
                  </a:lnTo>
                  <a:lnTo>
                    <a:pt x="33017" y="1710781"/>
                  </a:lnTo>
                  <a:lnTo>
                    <a:pt x="17849" y="1664863"/>
                  </a:lnTo>
                  <a:lnTo>
                    <a:pt x="7253" y="1617680"/>
                  </a:lnTo>
                  <a:lnTo>
                    <a:pt x="1334" y="1569685"/>
                  </a:lnTo>
                  <a:lnTo>
                    <a:pt x="0" y="1533438"/>
                  </a:lnTo>
                  <a:lnTo>
                    <a:pt x="0" y="492773"/>
                  </a:lnTo>
                  <a:lnTo>
                    <a:pt x="2372" y="444473"/>
                  </a:lnTo>
                  <a:lnTo>
                    <a:pt x="9468" y="396638"/>
                  </a:lnTo>
                  <a:lnTo>
                    <a:pt x="21218" y="349729"/>
                  </a:lnTo>
                  <a:lnTo>
                    <a:pt x="37510" y="304197"/>
                  </a:lnTo>
                  <a:lnTo>
                    <a:pt x="58186" y="260481"/>
                  </a:lnTo>
                  <a:lnTo>
                    <a:pt x="83047" y="219003"/>
                  </a:lnTo>
                  <a:lnTo>
                    <a:pt x="111854" y="180161"/>
                  </a:lnTo>
                  <a:lnTo>
                    <a:pt x="144330" y="144330"/>
                  </a:lnTo>
                  <a:lnTo>
                    <a:pt x="180161" y="111854"/>
                  </a:lnTo>
                  <a:lnTo>
                    <a:pt x="219003" y="83047"/>
                  </a:lnTo>
                  <a:lnTo>
                    <a:pt x="260481" y="58186"/>
                  </a:lnTo>
                  <a:lnTo>
                    <a:pt x="304197" y="37510"/>
                  </a:lnTo>
                  <a:lnTo>
                    <a:pt x="349729" y="21218"/>
                  </a:lnTo>
                  <a:lnTo>
                    <a:pt x="396638" y="9468"/>
                  </a:lnTo>
                  <a:lnTo>
                    <a:pt x="444473" y="2372"/>
                  </a:lnTo>
                  <a:lnTo>
                    <a:pt x="492774" y="0"/>
                  </a:lnTo>
                  <a:lnTo>
                    <a:pt x="3477065" y="0"/>
                  </a:lnTo>
                  <a:lnTo>
                    <a:pt x="3525365" y="2372"/>
                  </a:lnTo>
                  <a:lnTo>
                    <a:pt x="3573199" y="9468"/>
                  </a:lnTo>
                  <a:lnTo>
                    <a:pt x="3620109" y="21218"/>
                  </a:lnTo>
                  <a:lnTo>
                    <a:pt x="3665641" y="37510"/>
                  </a:lnTo>
                  <a:lnTo>
                    <a:pt x="3709356" y="58186"/>
                  </a:lnTo>
                  <a:lnTo>
                    <a:pt x="3750835" y="83047"/>
                  </a:lnTo>
                  <a:lnTo>
                    <a:pt x="3789677" y="111854"/>
                  </a:lnTo>
                  <a:lnTo>
                    <a:pt x="3825509" y="144330"/>
                  </a:lnTo>
                  <a:lnTo>
                    <a:pt x="3857985" y="180161"/>
                  </a:lnTo>
                  <a:lnTo>
                    <a:pt x="3886791" y="219003"/>
                  </a:lnTo>
                  <a:lnTo>
                    <a:pt x="3911652" y="260481"/>
                  </a:lnTo>
                  <a:lnTo>
                    <a:pt x="3932328" y="304197"/>
                  </a:lnTo>
                  <a:lnTo>
                    <a:pt x="3948620" y="349729"/>
                  </a:lnTo>
                  <a:lnTo>
                    <a:pt x="3960370" y="396638"/>
                  </a:lnTo>
                  <a:lnTo>
                    <a:pt x="3967466" y="444473"/>
                  </a:lnTo>
                  <a:lnTo>
                    <a:pt x="3969839" y="492773"/>
                  </a:lnTo>
                  <a:lnTo>
                    <a:pt x="3969839" y="1533438"/>
                  </a:lnTo>
                  <a:lnTo>
                    <a:pt x="3967466" y="1581738"/>
                  </a:lnTo>
                  <a:lnTo>
                    <a:pt x="3960370" y="1629573"/>
                  </a:lnTo>
                  <a:lnTo>
                    <a:pt x="3948620" y="1676482"/>
                  </a:lnTo>
                  <a:lnTo>
                    <a:pt x="3932328" y="1722014"/>
                  </a:lnTo>
                  <a:lnTo>
                    <a:pt x="3911653" y="1765729"/>
                  </a:lnTo>
                  <a:lnTo>
                    <a:pt x="3886791" y="1807208"/>
                  </a:lnTo>
                  <a:lnTo>
                    <a:pt x="3857985" y="1846050"/>
                  </a:lnTo>
                  <a:lnTo>
                    <a:pt x="3825509" y="1881881"/>
                  </a:lnTo>
                  <a:lnTo>
                    <a:pt x="3789677" y="1914357"/>
                  </a:lnTo>
                  <a:lnTo>
                    <a:pt x="3750835" y="1943164"/>
                  </a:lnTo>
                  <a:lnTo>
                    <a:pt x="3709356" y="1968025"/>
                  </a:lnTo>
                  <a:lnTo>
                    <a:pt x="3665641" y="1988701"/>
                  </a:lnTo>
                  <a:lnTo>
                    <a:pt x="3620109" y="2004993"/>
                  </a:lnTo>
                  <a:lnTo>
                    <a:pt x="3573199" y="2016743"/>
                  </a:lnTo>
                  <a:lnTo>
                    <a:pt x="3525365" y="2023839"/>
                  </a:lnTo>
                  <a:lnTo>
                    <a:pt x="3477065" y="2026212"/>
                  </a:lnTo>
                  <a:close/>
                </a:path>
              </a:pathLst>
            </a:custGeom>
            <a:solidFill>
              <a:srgbClr val="ACE1FF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56" name="object 56"/>
            <p:cNvSpPr/>
            <p:nvPr/>
          </p:nvSpPr>
          <p:spPr>
            <a:xfrm>
              <a:off x="9681439" y="3493667"/>
              <a:ext cx="3999865" cy="2056130"/>
            </a:xfrm>
            <a:custGeom>
              <a:avLst/>
              <a:gdLst/>
              <a:ahLst/>
              <a:cxnLst/>
              <a:rect l="l" t="t" r="r" b="b"/>
              <a:pathLst>
                <a:path w="3999865" h="2056129">
                  <a:moveTo>
                    <a:pt x="1865503" y="2039048"/>
                  </a:moveTo>
                  <a:lnTo>
                    <a:pt x="1852612" y="2026158"/>
                  </a:lnTo>
                  <a:lnTo>
                    <a:pt x="507631" y="2026158"/>
                  </a:lnTo>
                  <a:lnTo>
                    <a:pt x="495909" y="2025992"/>
                  </a:lnTo>
                  <a:lnTo>
                    <a:pt x="449148" y="2022500"/>
                  </a:lnTo>
                  <a:lnTo>
                    <a:pt x="402945" y="2014435"/>
                  </a:lnTo>
                  <a:lnTo>
                    <a:pt x="357759" y="2001901"/>
                  </a:lnTo>
                  <a:lnTo>
                    <a:pt x="314020" y="1984997"/>
                  </a:lnTo>
                  <a:lnTo>
                    <a:pt x="272148" y="1963889"/>
                  </a:lnTo>
                  <a:lnTo>
                    <a:pt x="232537" y="1938782"/>
                  </a:lnTo>
                  <a:lnTo>
                    <a:pt x="195580" y="1909914"/>
                  </a:lnTo>
                  <a:lnTo>
                    <a:pt x="161620" y="1877580"/>
                  </a:lnTo>
                  <a:lnTo>
                    <a:pt x="131000" y="1842071"/>
                  </a:lnTo>
                  <a:lnTo>
                    <a:pt x="103987" y="1803730"/>
                  </a:lnTo>
                  <a:lnTo>
                    <a:pt x="80873" y="1762937"/>
                  </a:lnTo>
                  <a:lnTo>
                    <a:pt x="61849" y="1720075"/>
                  </a:lnTo>
                  <a:lnTo>
                    <a:pt x="47129" y="1675561"/>
                  </a:lnTo>
                  <a:lnTo>
                    <a:pt x="36817" y="1629803"/>
                  </a:lnTo>
                  <a:lnTo>
                    <a:pt x="31051" y="1583270"/>
                  </a:lnTo>
                  <a:lnTo>
                    <a:pt x="29730" y="1548130"/>
                  </a:lnTo>
                  <a:lnTo>
                    <a:pt x="29730" y="723455"/>
                  </a:lnTo>
                  <a:lnTo>
                    <a:pt x="29349" y="721563"/>
                  </a:lnTo>
                  <a:lnTo>
                    <a:pt x="16827" y="710565"/>
                  </a:lnTo>
                  <a:lnTo>
                    <a:pt x="12890" y="710565"/>
                  </a:lnTo>
                  <a:lnTo>
                    <a:pt x="0" y="723455"/>
                  </a:lnTo>
                  <a:lnTo>
                    <a:pt x="0" y="1548130"/>
                  </a:lnTo>
                  <a:lnTo>
                    <a:pt x="2489" y="1597875"/>
                  </a:lnTo>
                  <a:lnTo>
                    <a:pt x="9829" y="1647139"/>
                  </a:lnTo>
                  <a:lnTo>
                    <a:pt x="21958" y="1695450"/>
                  </a:lnTo>
                  <a:lnTo>
                    <a:pt x="38760" y="1742338"/>
                  </a:lnTo>
                  <a:lnTo>
                    <a:pt x="60071" y="1787347"/>
                  </a:lnTo>
                  <a:lnTo>
                    <a:pt x="85686" y="1830070"/>
                  </a:lnTo>
                  <a:lnTo>
                    <a:pt x="115366" y="1870075"/>
                  </a:lnTo>
                  <a:lnTo>
                    <a:pt x="148818" y="1906981"/>
                  </a:lnTo>
                  <a:lnTo>
                    <a:pt x="185712" y="1940433"/>
                  </a:lnTo>
                  <a:lnTo>
                    <a:pt x="225717" y="1970125"/>
                  </a:lnTo>
                  <a:lnTo>
                    <a:pt x="268427" y="1995754"/>
                  </a:lnTo>
                  <a:lnTo>
                    <a:pt x="313436" y="2017064"/>
                  </a:lnTo>
                  <a:lnTo>
                    <a:pt x="360324" y="2033879"/>
                  </a:lnTo>
                  <a:lnTo>
                    <a:pt x="408622" y="2046020"/>
                  </a:lnTo>
                  <a:lnTo>
                    <a:pt x="457885" y="2053386"/>
                  </a:lnTo>
                  <a:lnTo>
                    <a:pt x="507631" y="2055876"/>
                  </a:lnTo>
                  <a:lnTo>
                    <a:pt x="1850631" y="2055876"/>
                  </a:lnTo>
                  <a:lnTo>
                    <a:pt x="1852612" y="2055876"/>
                  </a:lnTo>
                  <a:lnTo>
                    <a:pt x="1865503" y="2042985"/>
                  </a:lnTo>
                  <a:lnTo>
                    <a:pt x="1865503" y="2039048"/>
                  </a:lnTo>
                  <a:close/>
                </a:path>
                <a:path w="3999865" h="2056129">
                  <a:moveTo>
                    <a:pt x="3999560" y="507644"/>
                  </a:moveTo>
                  <a:lnTo>
                    <a:pt x="3997071" y="457898"/>
                  </a:lnTo>
                  <a:lnTo>
                    <a:pt x="3989717" y="408647"/>
                  </a:lnTo>
                  <a:lnTo>
                    <a:pt x="3977576" y="360349"/>
                  </a:lnTo>
                  <a:lnTo>
                    <a:pt x="3960761" y="313461"/>
                  </a:lnTo>
                  <a:lnTo>
                    <a:pt x="3939451" y="268452"/>
                  </a:lnTo>
                  <a:lnTo>
                    <a:pt x="3913835" y="225755"/>
                  </a:lnTo>
                  <a:lnTo>
                    <a:pt x="3884155" y="185750"/>
                  </a:lnTo>
                  <a:lnTo>
                    <a:pt x="3850703" y="148856"/>
                  </a:lnTo>
                  <a:lnTo>
                    <a:pt x="3813810" y="115404"/>
                  </a:lnTo>
                  <a:lnTo>
                    <a:pt x="3773817" y="85737"/>
                  </a:lnTo>
                  <a:lnTo>
                    <a:pt x="3731107" y="60121"/>
                  </a:lnTo>
                  <a:lnTo>
                    <a:pt x="3686098" y="38798"/>
                  </a:lnTo>
                  <a:lnTo>
                    <a:pt x="3639223" y="21996"/>
                  </a:lnTo>
                  <a:lnTo>
                    <a:pt x="3590925" y="9855"/>
                  </a:lnTo>
                  <a:lnTo>
                    <a:pt x="3541661" y="2501"/>
                  </a:lnTo>
                  <a:lnTo>
                    <a:pt x="3491928" y="0"/>
                  </a:lnTo>
                  <a:lnTo>
                    <a:pt x="1042847" y="0"/>
                  </a:lnTo>
                  <a:lnTo>
                    <a:pt x="1029957" y="12890"/>
                  </a:lnTo>
                  <a:lnTo>
                    <a:pt x="1029957" y="16840"/>
                  </a:lnTo>
                  <a:lnTo>
                    <a:pt x="3491928" y="29730"/>
                  </a:lnTo>
                  <a:lnTo>
                    <a:pt x="3503650" y="29883"/>
                  </a:lnTo>
                  <a:lnTo>
                    <a:pt x="3550412" y="33388"/>
                  </a:lnTo>
                  <a:lnTo>
                    <a:pt x="3596602" y="41440"/>
                  </a:lnTo>
                  <a:lnTo>
                    <a:pt x="3641775" y="53975"/>
                  </a:lnTo>
                  <a:lnTo>
                    <a:pt x="3685514" y="70878"/>
                  </a:lnTo>
                  <a:lnTo>
                    <a:pt x="3727386" y="91973"/>
                  </a:lnTo>
                  <a:lnTo>
                    <a:pt x="3766985" y="117068"/>
                  </a:lnTo>
                  <a:lnTo>
                    <a:pt x="3803942" y="145923"/>
                  </a:lnTo>
                  <a:lnTo>
                    <a:pt x="3837902" y="178257"/>
                  </a:lnTo>
                  <a:lnTo>
                    <a:pt x="3868521" y="213753"/>
                  </a:lnTo>
                  <a:lnTo>
                    <a:pt x="3895534" y="252082"/>
                  </a:lnTo>
                  <a:lnTo>
                    <a:pt x="3918661" y="292862"/>
                  </a:lnTo>
                  <a:lnTo>
                    <a:pt x="3937673" y="335724"/>
                  </a:lnTo>
                  <a:lnTo>
                    <a:pt x="3952417" y="380225"/>
                  </a:lnTo>
                  <a:lnTo>
                    <a:pt x="3962717" y="425970"/>
                  </a:lnTo>
                  <a:lnTo>
                    <a:pt x="3968508" y="472490"/>
                  </a:lnTo>
                  <a:lnTo>
                    <a:pt x="3969842" y="507644"/>
                  </a:lnTo>
                  <a:lnTo>
                    <a:pt x="3969842" y="1548130"/>
                  </a:lnTo>
                  <a:lnTo>
                    <a:pt x="3967657" y="1594993"/>
                  </a:lnTo>
                  <a:lnTo>
                    <a:pt x="3960838" y="1641411"/>
                  </a:lnTo>
                  <a:lnTo>
                    <a:pt x="3949496" y="1686928"/>
                  </a:lnTo>
                  <a:lnTo>
                    <a:pt x="3933685" y="1731098"/>
                  </a:lnTo>
                  <a:lnTo>
                    <a:pt x="3913619" y="1773504"/>
                  </a:lnTo>
                  <a:lnTo>
                    <a:pt x="3889438" y="1813712"/>
                  </a:lnTo>
                  <a:lnTo>
                    <a:pt x="3861422" y="1851342"/>
                  </a:lnTo>
                  <a:lnTo>
                    <a:pt x="3828440" y="1887410"/>
                  </a:lnTo>
                  <a:lnTo>
                    <a:pt x="3827373" y="1889023"/>
                  </a:lnTo>
                  <a:lnTo>
                    <a:pt x="3825875" y="1892668"/>
                  </a:lnTo>
                  <a:lnTo>
                    <a:pt x="3825506" y="1894573"/>
                  </a:lnTo>
                  <a:lnTo>
                    <a:pt x="3825506" y="1898510"/>
                  </a:lnTo>
                  <a:lnTo>
                    <a:pt x="3836238" y="1911413"/>
                  </a:lnTo>
                  <a:lnTo>
                    <a:pt x="3840340" y="1911400"/>
                  </a:lnTo>
                  <a:lnTo>
                    <a:pt x="3844480" y="1911438"/>
                  </a:lnTo>
                  <a:lnTo>
                    <a:pt x="3884472" y="1870214"/>
                  </a:lnTo>
                  <a:lnTo>
                    <a:pt x="3914216" y="1830235"/>
                  </a:lnTo>
                  <a:lnTo>
                    <a:pt x="3939883" y="1787525"/>
                  </a:lnTo>
                  <a:lnTo>
                    <a:pt x="3961193" y="1742478"/>
                  </a:lnTo>
                  <a:lnTo>
                    <a:pt x="3977970" y="1695551"/>
                  </a:lnTo>
                  <a:lnTo>
                    <a:pt x="3990022" y="1647202"/>
                  </a:lnTo>
                  <a:lnTo>
                    <a:pt x="3997248" y="1597901"/>
                  </a:lnTo>
                  <a:lnTo>
                    <a:pt x="3999560" y="1548130"/>
                  </a:lnTo>
                  <a:lnTo>
                    <a:pt x="3999560" y="50764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7" name="object 57"/>
          <p:cNvSpPr txBox="1"/>
          <p:nvPr/>
        </p:nvSpPr>
        <p:spPr>
          <a:xfrm>
            <a:off x="6559890" y="2427309"/>
            <a:ext cx="2397760" cy="1069994"/>
          </a:xfrm>
          <a:prstGeom prst="rect">
            <a:avLst/>
          </a:prstGeom>
        </p:spPr>
        <p:txBody>
          <a:bodyPr vert="horz" wrap="square" lIns="0" tIns="11007" rIns="0" bIns="0" rtlCol="0">
            <a:spAutoFit/>
          </a:bodyPr>
          <a:lstStyle/>
          <a:p>
            <a:pPr marL="179917" indent="-171450">
              <a:spcBef>
                <a:spcPts val="87"/>
              </a:spcBef>
              <a:buFont typeface="Arial" panose="020B0604020202020204" pitchFamily="34" charset="0"/>
              <a:buChar char="•"/>
            </a:pPr>
            <a:r>
              <a:rPr lang="en-US" sz="1133" dirty="0">
                <a:latin typeface="Georgia"/>
                <a:cs typeface="Georgia"/>
              </a:rPr>
              <a:t>Provides a hands-on learning platform for operating systems and distributed architecture.</a:t>
            </a:r>
          </a:p>
          <a:p>
            <a:pPr marL="179917" indent="-171450">
              <a:spcBef>
                <a:spcPts val="87"/>
              </a:spcBef>
              <a:buFont typeface="Arial" panose="020B0604020202020204" pitchFamily="34" charset="0"/>
              <a:buChar char="•"/>
            </a:pPr>
            <a:r>
              <a:rPr lang="en-US" sz="1133" dirty="0">
                <a:latin typeface="Georgia"/>
                <a:cs typeface="Georgia"/>
              </a:rPr>
              <a:t>Improves conceptual understanding through real-time visualization.</a:t>
            </a:r>
            <a:endParaRPr sz="1133" dirty="0">
              <a:latin typeface="Georgia"/>
              <a:cs typeface="Georgia"/>
            </a:endParaRPr>
          </a:p>
        </p:txBody>
      </p:sp>
      <p:grpSp>
        <p:nvGrpSpPr>
          <p:cNvPr id="64" name="object 64"/>
          <p:cNvGrpSpPr/>
          <p:nvPr/>
        </p:nvGrpSpPr>
        <p:grpSpPr>
          <a:xfrm>
            <a:off x="4571952" y="1955582"/>
            <a:ext cx="7544298" cy="1744283"/>
            <a:chOff x="6857927" y="2933372"/>
            <a:chExt cx="11316447" cy="2616425"/>
          </a:xfrm>
        </p:grpSpPr>
        <p:sp>
          <p:nvSpPr>
            <p:cNvPr id="65" name="object 65"/>
            <p:cNvSpPr/>
            <p:nvPr/>
          </p:nvSpPr>
          <p:spPr>
            <a:xfrm>
              <a:off x="11806802" y="2933372"/>
              <a:ext cx="0" cy="457200"/>
            </a:xfrm>
            <a:custGeom>
              <a:avLst/>
              <a:gdLst/>
              <a:ahLst/>
              <a:cxnLst/>
              <a:rect l="l" t="t" r="r" b="b"/>
              <a:pathLst>
                <a:path h="457200">
                  <a:moveTo>
                    <a:pt x="0" y="0"/>
                  </a:moveTo>
                  <a:lnTo>
                    <a:pt x="0" y="456601"/>
                  </a:lnTo>
                </a:path>
              </a:pathLst>
            </a:custGeom>
            <a:ln w="57149">
              <a:solidFill>
                <a:srgbClr val="004A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6" name="object 6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1692502" y="3389974"/>
              <a:ext cx="228599" cy="171449"/>
            </a:xfrm>
            <a:prstGeom prst="rect">
              <a:avLst/>
            </a:prstGeom>
          </p:spPr>
        </p:pic>
        <p:sp>
          <p:nvSpPr>
            <p:cNvPr id="67" name="object 67"/>
            <p:cNvSpPr/>
            <p:nvPr/>
          </p:nvSpPr>
          <p:spPr>
            <a:xfrm>
              <a:off x="6972227" y="2933372"/>
              <a:ext cx="0" cy="457200"/>
            </a:xfrm>
            <a:custGeom>
              <a:avLst/>
              <a:gdLst/>
              <a:ahLst/>
              <a:cxnLst/>
              <a:rect l="l" t="t" r="r" b="b"/>
              <a:pathLst>
                <a:path h="457200">
                  <a:moveTo>
                    <a:pt x="0" y="0"/>
                  </a:moveTo>
                  <a:lnTo>
                    <a:pt x="0" y="456601"/>
                  </a:lnTo>
                </a:path>
              </a:pathLst>
            </a:custGeom>
            <a:ln w="57149">
              <a:solidFill>
                <a:srgbClr val="004A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8" name="object 68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857927" y="3389974"/>
              <a:ext cx="228599" cy="171449"/>
            </a:xfrm>
            <a:prstGeom prst="rect">
              <a:avLst/>
            </a:prstGeom>
          </p:spPr>
        </p:pic>
        <p:sp>
          <p:nvSpPr>
            <p:cNvPr id="69" name="object 69"/>
            <p:cNvSpPr/>
            <p:nvPr/>
          </p:nvSpPr>
          <p:spPr>
            <a:xfrm>
              <a:off x="14040263" y="3359231"/>
              <a:ext cx="3970020" cy="2026284"/>
            </a:xfrm>
            <a:custGeom>
              <a:avLst/>
              <a:gdLst/>
              <a:ahLst/>
              <a:cxnLst/>
              <a:rect l="l" t="t" r="r" b="b"/>
              <a:pathLst>
                <a:path w="3970019" h="2026285">
                  <a:moveTo>
                    <a:pt x="3477065" y="2026212"/>
                  </a:moveTo>
                  <a:lnTo>
                    <a:pt x="492774" y="2026212"/>
                  </a:lnTo>
                  <a:lnTo>
                    <a:pt x="480677" y="2026064"/>
                  </a:lnTo>
                  <a:lnTo>
                    <a:pt x="432449" y="2022506"/>
                  </a:lnTo>
                  <a:lnTo>
                    <a:pt x="384803" y="2014237"/>
                  </a:lnTo>
                  <a:lnTo>
                    <a:pt x="338196" y="2001339"/>
                  </a:lnTo>
                  <a:lnTo>
                    <a:pt x="293078" y="1983935"/>
                  </a:lnTo>
                  <a:lnTo>
                    <a:pt x="249883" y="1962192"/>
                  </a:lnTo>
                  <a:lnTo>
                    <a:pt x="209027" y="1936320"/>
                  </a:lnTo>
                  <a:lnTo>
                    <a:pt x="170904" y="1906568"/>
                  </a:lnTo>
                  <a:lnTo>
                    <a:pt x="135881" y="1873223"/>
                  </a:lnTo>
                  <a:lnTo>
                    <a:pt x="104294" y="1836605"/>
                  </a:lnTo>
                  <a:lnTo>
                    <a:pt x="76449" y="1797068"/>
                  </a:lnTo>
                  <a:lnTo>
                    <a:pt x="52614" y="1754991"/>
                  </a:lnTo>
                  <a:lnTo>
                    <a:pt x="33017" y="1710781"/>
                  </a:lnTo>
                  <a:lnTo>
                    <a:pt x="17849" y="1664863"/>
                  </a:lnTo>
                  <a:lnTo>
                    <a:pt x="7253" y="1617680"/>
                  </a:lnTo>
                  <a:lnTo>
                    <a:pt x="1334" y="1569685"/>
                  </a:lnTo>
                  <a:lnTo>
                    <a:pt x="0" y="1533438"/>
                  </a:lnTo>
                  <a:lnTo>
                    <a:pt x="0" y="492773"/>
                  </a:lnTo>
                  <a:lnTo>
                    <a:pt x="2372" y="444473"/>
                  </a:lnTo>
                  <a:lnTo>
                    <a:pt x="9468" y="396638"/>
                  </a:lnTo>
                  <a:lnTo>
                    <a:pt x="21218" y="349729"/>
                  </a:lnTo>
                  <a:lnTo>
                    <a:pt x="37510" y="304197"/>
                  </a:lnTo>
                  <a:lnTo>
                    <a:pt x="58186" y="260481"/>
                  </a:lnTo>
                  <a:lnTo>
                    <a:pt x="83047" y="219003"/>
                  </a:lnTo>
                  <a:lnTo>
                    <a:pt x="111854" y="180161"/>
                  </a:lnTo>
                  <a:lnTo>
                    <a:pt x="144330" y="144330"/>
                  </a:lnTo>
                  <a:lnTo>
                    <a:pt x="180161" y="111854"/>
                  </a:lnTo>
                  <a:lnTo>
                    <a:pt x="219003" y="83047"/>
                  </a:lnTo>
                  <a:lnTo>
                    <a:pt x="260481" y="58186"/>
                  </a:lnTo>
                  <a:lnTo>
                    <a:pt x="304197" y="37510"/>
                  </a:lnTo>
                  <a:lnTo>
                    <a:pt x="349729" y="21218"/>
                  </a:lnTo>
                  <a:lnTo>
                    <a:pt x="396638" y="9468"/>
                  </a:lnTo>
                  <a:lnTo>
                    <a:pt x="444473" y="2372"/>
                  </a:lnTo>
                  <a:lnTo>
                    <a:pt x="492774" y="0"/>
                  </a:lnTo>
                  <a:lnTo>
                    <a:pt x="3477065" y="0"/>
                  </a:lnTo>
                  <a:lnTo>
                    <a:pt x="3525365" y="2372"/>
                  </a:lnTo>
                  <a:lnTo>
                    <a:pt x="3573199" y="9468"/>
                  </a:lnTo>
                  <a:lnTo>
                    <a:pt x="3620109" y="21218"/>
                  </a:lnTo>
                  <a:lnTo>
                    <a:pt x="3665641" y="37510"/>
                  </a:lnTo>
                  <a:lnTo>
                    <a:pt x="3709356" y="58186"/>
                  </a:lnTo>
                  <a:lnTo>
                    <a:pt x="3750835" y="83047"/>
                  </a:lnTo>
                  <a:lnTo>
                    <a:pt x="3789677" y="111854"/>
                  </a:lnTo>
                  <a:lnTo>
                    <a:pt x="3825509" y="144330"/>
                  </a:lnTo>
                  <a:lnTo>
                    <a:pt x="3857985" y="180161"/>
                  </a:lnTo>
                  <a:lnTo>
                    <a:pt x="3886791" y="219003"/>
                  </a:lnTo>
                  <a:lnTo>
                    <a:pt x="3911652" y="260481"/>
                  </a:lnTo>
                  <a:lnTo>
                    <a:pt x="3932328" y="304197"/>
                  </a:lnTo>
                  <a:lnTo>
                    <a:pt x="3948620" y="349729"/>
                  </a:lnTo>
                  <a:lnTo>
                    <a:pt x="3960370" y="396638"/>
                  </a:lnTo>
                  <a:lnTo>
                    <a:pt x="3967466" y="444473"/>
                  </a:lnTo>
                  <a:lnTo>
                    <a:pt x="3969839" y="492773"/>
                  </a:lnTo>
                  <a:lnTo>
                    <a:pt x="3969839" y="1533438"/>
                  </a:lnTo>
                  <a:lnTo>
                    <a:pt x="3967466" y="1581738"/>
                  </a:lnTo>
                  <a:lnTo>
                    <a:pt x="3960370" y="1629573"/>
                  </a:lnTo>
                  <a:lnTo>
                    <a:pt x="3948620" y="1676482"/>
                  </a:lnTo>
                  <a:lnTo>
                    <a:pt x="3932328" y="1722014"/>
                  </a:lnTo>
                  <a:lnTo>
                    <a:pt x="3911653" y="1765729"/>
                  </a:lnTo>
                  <a:lnTo>
                    <a:pt x="3886791" y="1807208"/>
                  </a:lnTo>
                  <a:lnTo>
                    <a:pt x="3857985" y="1846050"/>
                  </a:lnTo>
                  <a:lnTo>
                    <a:pt x="3825509" y="1881881"/>
                  </a:lnTo>
                  <a:lnTo>
                    <a:pt x="3789677" y="1914357"/>
                  </a:lnTo>
                  <a:lnTo>
                    <a:pt x="3750835" y="1943164"/>
                  </a:lnTo>
                  <a:lnTo>
                    <a:pt x="3709356" y="1968025"/>
                  </a:lnTo>
                  <a:lnTo>
                    <a:pt x="3665641" y="1988701"/>
                  </a:lnTo>
                  <a:lnTo>
                    <a:pt x="3620109" y="2004993"/>
                  </a:lnTo>
                  <a:lnTo>
                    <a:pt x="3573199" y="2016743"/>
                  </a:lnTo>
                  <a:lnTo>
                    <a:pt x="3525365" y="2023839"/>
                  </a:lnTo>
                  <a:lnTo>
                    <a:pt x="3477065" y="2026212"/>
                  </a:lnTo>
                  <a:close/>
                </a:path>
              </a:pathLst>
            </a:custGeom>
            <a:solidFill>
              <a:srgbClr val="ACE1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0" name="object 70"/>
            <p:cNvSpPr/>
            <p:nvPr/>
          </p:nvSpPr>
          <p:spPr>
            <a:xfrm>
              <a:off x="14174509" y="3493667"/>
              <a:ext cx="3999865" cy="2056130"/>
            </a:xfrm>
            <a:custGeom>
              <a:avLst/>
              <a:gdLst/>
              <a:ahLst/>
              <a:cxnLst/>
              <a:rect l="l" t="t" r="r" b="b"/>
              <a:pathLst>
                <a:path w="3999865" h="2056129">
                  <a:moveTo>
                    <a:pt x="1865503" y="2039048"/>
                  </a:moveTo>
                  <a:lnTo>
                    <a:pt x="1852612" y="2026158"/>
                  </a:lnTo>
                  <a:lnTo>
                    <a:pt x="507644" y="2026158"/>
                  </a:lnTo>
                  <a:lnTo>
                    <a:pt x="495909" y="2025992"/>
                  </a:lnTo>
                  <a:lnTo>
                    <a:pt x="449148" y="2022500"/>
                  </a:lnTo>
                  <a:lnTo>
                    <a:pt x="402958" y="2014435"/>
                  </a:lnTo>
                  <a:lnTo>
                    <a:pt x="357771" y="2001901"/>
                  </a:lnTo>
                  <a:lnTo>
                    <a:pt x="314032" y="1984997"/>
                  </a:lnTo>
                  <a:lnTo>
                    <a:pt x="272148" y="1963889"/>
                  </a:lnTo>
                  <a:lnTo>
                    <a:pt x="232549" y="1938782"/>
                  </a:lnTo>
                  <a:lnTo>
                    <a:pt x="195592" y="1909914"/>
                  </a:lnTo>
                  <a:lnTo>
                    <a:pt x="161632" y="1877580"/>
                  </a:lnTo>
                  <a:lnTo>
                    <a:pt x="131000" y="1842071"/>
                  </a:lnTo>
                  <a:lnTo>
                    <a:pt x="104000" y="1803730"/>
                  </a:lnTo>
                  <a:lnTo>
                    <a:pt x="80873" y="1762937"/>
                  </a:lnTo>
                  <a:lnTo>
                    <a:pt x="61861" y="1720075"/>
                  </a:lnTo>
                  <a:lnTo>
                    <a:pt x="47129" y="1675561"/>
                  </a:lnTo>
                  <a:lnTo>
                    <a:pt x="36830" y="1629803"/>
                  </a:lnTo>
                  <a:lnTo>
                    <a:pt x="31051" y="1583270"/>
                  </a:lnTo>
                  <a:lnTo>
                    <a:pt x="29730" y="1548130"/>
                  </a:lnTo>
                  <a:lnTo>
                    <a:pt x="29730" y="723455"/>
                  </a:lnTo>
                  <a:lnTo>
                    <a:pt x="29349" y="721563"/>
                  </a:lnTo>
                  <a:lnTo>
                    <a:pt x="16840" y="710565"/>
                  </a:lnTo>
                  <a:lnTo>
                    <a:pt x="12890" y="710565"/>
                  </a:lnTo>
                  <a:lnTo>
                    <a:pt x="0" y="723455"/>
                  </a:lnTo>
                  <a:lnTo>
                    <a:pt x="0" y="1548130"/>
                  </a:lnTo>
                  <a:lnTo>
                    <a:pt x="2489" y="1597875"/>
                  </a:lnTo>
                  <a:lnTo>
                    <a:pt x="9829" y="1647139"/>
                  </a:lnTo>
                  <a:lnTo>
                    <a:pt x="21971" y="1695450"/>
                  </a:lnTo>
                  <a:lnTo>
                    <a:pt x="38773" y="1742338"/>
                  </a:lnTo>
                  <a:lnTo>
                    <a:pt x="60083" y="1787347"/>
                  </a:lnTo>
                  <a:lnTo>
                    <a:pt x="85699" y="1830070"/>
                  </a:lnTo>
                  <a:lnTo>
                    <a:pt x="115366" y="1870075"/>
                  </a:lnTo>
                  <a:lnTo>
                    <a:pt x="148818" y="1906981"/>
                  </a:lnTo>
                  <a:lnTo>
                    <a:pt x="185712" y="1940433"/>
                  </a:lnTo>
                  <a:lnTo>
                    <a:pt x="225717" y="1970125"/>
                  </a:lnTo>
                  <a:lnTo>
                    <a:pt x="268427" y="1995754"/>
                  </a:lnTo>
                  <a:lnTo>
                    <a:pt x="313436" y="2017064"/>
                  </a:lnTo>
                  <a:lnTo>
                    <a:pt x="360324" y="2033879"/>
                  </a:lnTo>
                  <a:lnTo>
                    <a:pt x="408635" y="2046020"/>
                  </a:lnTo>
                  <a:lnTo>
                    <a:pt x="457898" y="2053386"/>
                  </a:lnTo>
                  <a:lnTo>
                    <a:pt x="507644" y="2055876"/>
                  </a:lnTo>
                  <a:lnTo>
                    <a:pt x="1850644" y="2055876"/>
                  </a:lnTo>
                  <a:lnTo>
                    <a:pt x="1852612" y="2055876"/>
                  </a:lnTo>
                  <a:lnTo>
                    <a:pt x="1865503" y="2042985"/>
                  </a:lnTo>
                  <a:lnTo>
                    <a:pt x="1865503" y="2039048"/>
                  </a:lnTo>
                  <a:close/>
                </a:path>
                <a:path w="3999865" h="2056129">
                  <a:moveTo>
                    <a:pt x="3999573" y="507644"/>
                  </a:moveTo>
                  <a:lnTo>
                    <a:pt x="3997071" y="457898"/>
                  </a:lnTo>
                  <a:lnTo>
                    <a:pt x="3989717" y="408647"/>
                  </a:lnTo>
                  <a:lnTo>
                    <a:pt x="3977576" y="360349"/>
                  </a:lnTo>
                  <a:lnTo>
                    <a:pt x="3960774" y="313461"/>
                  </a:lnTo>
                  <a:lnTo>
                    <a:pt x="3939451" y="268452"/>
                  </a:lnTo>
                  <a:lnTo>
                    <a:pt x="3913835" y="225755"/>
                  </a:lnTo>
                  <a:lnTo>
                    <a:pt x="3884155" y="185750"/>
                  </a:lnTo>
                  <a:lnTo>
                    <a:pt x="3850716" y="148856"/>
                  </a:lnTo>
                  <a:lnTo>
                    <a:pt x="3813810" y="115404"/>
                  </a:lnTo>
                  <a:lnTo>
                    <a:pt x="3773817" y="85737"/>
                  </a:lnTo>
                  <a:lnTo>
                    <a:pt x="3731120" y="60121"/>
                  </a:lnTo>
                  <a:lnTo>
                    <a:pt x="3686098" y="38798"/>
                  </a:lnTo>
                  <a:lnTo>
                    <a:pt x="3639223" y="21996"/>
                  </a:lnTo>
                  <a:lnTo>
                    <a:pt x="3590925" y="9855"/>
                  </a:lnTo>
                  <a:lnTo>
                    <a:pt x="3541674" y="2501"/>
                  </a:lnTo>
                  <a:lnTo>
                    <a:pt x="3491928" y="0"/>
                  </a:lnTo>
                  <a:lnTo>
                    <a:pt x="1042860" y="0"/>
                  </a:lnTo>
                  <a:lnTo>
                    <a:pt x="1029970" y="12890"/>
                  </a:lnTo>
                  <a:lnTo>
                    <a:pt x="1029970" y="16840"/>
                  </a:lnTo>
                  <a:lnTo>
                    <a:pt x="3491928" y="29730"/>
                  </a:lnTo>
                  <a:lnTo>
                    <a:pt x="3503663" y="29883"/>
                  </a:lnTo>
                  <a:lnTo>
                    <a:pt x="3550412" y="33388"/>
                  </a:lnTo>
                  <a:lnTo>
                    <a:pt x="3596602" y="41440"/>
                  </a:lnTo>
                  <a:lnTo>
                    <a:pt x="3641775" y="53975"/>
                  </a:lnTo>
                  <a:lnTo>
                    <a:pt x="3685514" y="70878"/>
                  </a:lnTo>
                  <a:lnTo>
                    <a:pt x="3727386" y="91973"/>
                  </a:lnTo>
                  <a:lnTo>
                    <a:pt x="3766985" y="117068"/>
                  </a:lnTo>
                  <a:lnTo>
                    <a:pt x="3803942" y="145923"/>
                  </a:lnTo>
                  <a:lnTo>
                    <a:pt x="3837902" y="178257"/>
                  </a:lnTo>
                  <a:lnTo>
                    <a:pt x="3868534" y="213753"/>
                  </a:lnTo>
                  <a:lnTo>
                    <a:pt x="3895534" y="252082"/>
                  </a:lnTo>
                  <a:lnTo>
                    <a:pt x="3918661" y="292862"/>
                  </a:lnTo>
                  <a:lnTo>
                    <a:pt x="3937685" y="335724"/>
                  </a:lnTo>
                  <a:lnTo>
                    <a:pt x="3952417" y="380225"/>
                  </a:lnTo>
                  <a:lnTo>
                    <a:pt x="3962730" y="425970"/>
                  </a:lnTo>
                  <a:lnTo>
                    <a:pt x="3968508" y="472490"/>
                  </a:lnTo>
                  <a:lnTo>
                    <a:pt x="3969842" y="507644"/>
                  </a:lnTo>
                  <a:lnTo>
                    <a:pt x="3969842" y="1548130"/>
                  </a:lnTo>
                  <a:lnTo>
                    <a:pt x="3967657" y="1594993"/>
                  </a:lnTo>
                  <a:lnTo>
                    <a:pt x="3960850" y="1641411"/>
                  </a:lnTo>
                  <a:lnTo>
                    <a:pt x="3949496" y="1686928"/>
                  </a:lnTo>
                  <a:lnTo>
                    <a:pt x="3933698" y="1731098"/>
                  </a:lnTo>
                  <a:lnTo>
                    <a:pt x="3913619" y="1773504"/>
                  </a:lnTo>
                  <a:lnTo>
                    <a:pt x="3889438" y="1813712"/>
                  </a:lnTo>
                  <a:lnTo>
                    <a:pt x="3861422" y="1851342"/>
                  </a:lnTo>
                  <a:lnTo>
                    <a:pt x="3828440" y="1887410"/>
                  </a:lnTo>
                  <a:lnTo>
                    <a:pt x="3827373" y="1889023"/>
                  </a:lnTo>
                  <a:lnTo>
                    <a:pt x="3825875" y="1892668"/>
                  </a:lnTo>
                  <a:lnTo>
                    <a:pt x="3825506" y="1894573"/>
                  </a:lnTo>
                  <a:lnTo>
                    <a:pt x="3825506" y="1898510"/>
                  </a:lnTo>
                  <a:lnTo>
                    <a:pt x="3836238" y="1911413"/>
                  </a:lnTo>
                  <a:lnTo>
                    <a:pt x="3840340" y="1911400"/>
                  </a:lnTo>
                  <a:lnTo>
                    <a:pt x="3844480" y="1911438"/>
                  </a:lnTo>
                  <a:lnTo>
                    <a:pt x="3884485" y="1870214"/>
                  </a:lnTo>
                  <a:lnTo>
                    <a:pt x="3914229" y="1830235"/>
                  </a:lnTo>
                  <a:lnTo>
                    <a:pt x="3939895" y="1787525"/>
                  </a:lnTo>
                  <a:lnTo>
                    <a:pt x="3961206" y="1742478"/>
                  </a:lnTo>
                  <a:lnTo>
                    <a:pt x="3977970" y="1695551"/>
                  </a:lnTo>
                  <a:lnTo>
                    <a:pt x="3990022" y="1647202"/>
                  </a:lnTo>
                  <a:lnTo>
                    <a:pt x="3997248" y="1597901"/>
                  </a:lnTo>
                  <a:lnTo>
                    <a:pt x="3999573" y="1548130"/>
                  </a:lnTo>
                  <a:lnTo>
                    <a:pt x="3999573" y="50764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1" name="object 71"/>
          <p:cNvSpPr txBox="1"/>
          <p:nvPr/>
        </p:nvSpPr>
        <p:spPr>
          <a:xfrm>
            <a:off x="9534589" y="2392317"/>
            <a:ext cx="2297853" cy="1069994"/>
          </a:xfrm>
          <a:prstGeom prst="rect">
            <a:avLst/>
          </a:prstGeom>
        </p:spPr>
        <p:txBody>
          <a:bodyPr vert="horz" wrap="square" lIns="0" tIns="11007" rIns="0" bIns="0" rtlCol="0">
            <a:spAutoFit/>
          </a:bodyPr>
          <a:lstStyle/>
          <a:p>
            <a:pPr marL="179917" indent="-171450">
              <a:spcBef>
                <a:spcPts val="87"/>
              </a:spcBef>
              <a:buFont typeface="Arial" panose="020B0604020202020204" pitchFamily="34" charset="0"/>
              <a:buChar char="•"/>
            </a:pPr>
            <a:r>
              <a:rPr lang="en-US" sz="1133" spc="-7" dirty="0">
                <a:latin typeface="Georgia"/>
                <a:cs typeface="Georgia"/>
              </a:rPr>
              <a:t>Demonstrates scalable real-time system design used in delivery and logistics platforms.</a:t>
            </a:r>
          </a:p>
          <a:p>
            <a:pPr marL="179917" indent="-171450">
              <a:spcBef>
                <a:spcPts val="87"/>
              </a:spcBef>
              <a:buFont typeface="Arial" panose="020B0604020202020204" pitchFamily="34" charset="0"/>
              <a:buChar char="•"/>
            </a:pPr>
            <a:r>
              <a:rPr lang="en-US" sz="1133" spc="-7" dirty="0">
                <a:latin typeface="Georgia"/>
                <a:cs typeface="Georgia"/>
              </a:rPr>
              <a:t>Supports better understanding of system monitoring and performance optimization.</a:t>
            </a:r>
            <a:endParaRPr sz="1133" dirty="0">
              <a:latin typeface="Georgia"/>
              <a:cs typeface="Georgia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470657" y="69672"/>
            <a:ext cx="8075168" cy="689547"/>
          </a:xfrm>
          <a:prstGeom prst="rect">
            <a:avLst/>
          </a:prstGeom>
        </p:spPr>
        <p:txBody>
          <a:bodyPr vert="horz" wrap="square" lIns="0" tIns="134238" rIns="0" bIns="0" rtlCol="0">
            <a:spAutoFit/>
          </a:bodyPr>
          <a:lstStyle/>
          <a:p>
            <a:pPr marL="1165860">
              <a:lnSpc>
                <a:spcPct val="100000"/>
              </a:lnSpc>
              <a:spcBef>
                <a:spcPts val="100"/>
              </a:spcBef>
              <a:tabLst>
                <a:tab pos="3910965" algn="l"/>
              </a:tabLst>
            </a:pPr>
            <a:r>
              <a:rPr u="sng" spc="-10" dirty="0">
                <a:solidFill>
                  <a:schemeClr val="tx2">
                    <a:lumMod val="75000"/>
                  </a:schemeClr>
                </a:solidFill>
              </a:rPr>
              <a:t>RESEARCH</a:t>
            </a:r>
            <a:r>
              <a:rPr u="sng" dirty="0">
                <a:solidFill>
                  <a:schemeClr val="tx2">
                    <a:lumMod val="75000"/>
                  </a:schemeClr>
                </a:solidFill>
              </a:rPr>
              <a:t>	AND</a:t>
            </a:r>
            <a:r>
              <a:rPr u="sng" spc="-195" dirty="0">
                <a:solidFill>
                  <a:schemeClr val="tx2">
                    <a:lumMod val="75000"/>
                  </a:schemeClr>
                </a:solidFill>
              </a:rPr>
              <a:t> </a:t>
            </a:r>
            <a:r>
              <a:rPr u="sng" spc="-10" dirty="0">
                <a:solidFill>
                  <a:schemeClr val="tx2">
                    <a:lumMod val="75000"/>
                  </a:schemeClr>
                </a:solidFill>
              </a:rPr>
              <a:t>REFERENCES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4AA22D8-C039-31A9-387B-BA85E01217AE}"/>
              </a:ext>
            </a:extLst>
          </p:cNvPr>
          <p:cNvSpPr txBox="1"/>
          <p:nvPr/>
        </p:nvSpPr>
        <p:spPr>
          <a:xfrm>
            <a:off x="76201" y="1162840"/>
            <a:ext cx="8458200" cy="51706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lang="en-IN" sz="2200" b="0" i="0" dirty="0">
                <a:solidFill>
                  <a:schemeClr val="tx1"/>
                </a:solidFill>
                <a:effectLst/>
                <a:latin typeface="ui-sans-serif"/>
              </a:rPr>
              <a:t> </a:t>
            </a:r>
            <a:r>
              <a:rPr lang="en-IN" sz="2200" dirty="0"/>
              <a:t>🖥️</a:t>
            </a:r>
            <a:r>
              <a:rPr lang="fr-FR" sz="2200" b="1" i="0" u="sng" dirty="0">
                <a:solidFill>
                  <a:schemeClr val="tx1"/>
                </a:solidFill>
                <a:effectLst/>
                <a:latin typeface="ui-sans-serif"/>
              </a:rPr>
              <a:t>Operating System Concepts – Silberschatz, Gavin &amp; Gagne</a:t>
            </a:r>
            <a:r>
              <a:rPr lang="en-IN" sz="2200" b="0" i="0" u="sng" dirty="0">
                <a:solidFill>
                  <a:schemeClr val="tx1"/>
                </a:solidFill>
                <a:effectLst/>
                <a:latin typeface="ui-sans-serif"/>
              </a:rPr>
              <a:t>: </a:t>
            </a:r>
            <a:r>
              <a:rPr lang="en-US" sz="2200" b="0" i="0" dirty="0">
                <a:solidFill>
                  <a:schemeClr val="tx1"/>
                </a:solidFill>
                <a:effectLst/>
                <a:latin typeface="ui-sans-serif"/>
              </a:rPr>
              <a:t>Primary reference for process management, scheduling, concurrency, and IPC concepts.</a:t>
            </a:r>
          </a:p>
          <a:p>
            <a:pPr algn="l">
              <a:buNone/>
            </a:pPr>
            <a:endParaRPr lang="en-US" sz="2200" b="0" i="0" dirty="0">
              <a:solidFill>
                <a:schemeClr val="tx1"/>
              </a:solidFill>
              <a:effectLst/>
              <a:latin typeface="ui-sans-serif"/>
            </a:endParaRPr>
          </a:p>
          <a:p>
            <a:pPr algn="l">
              <a:buNone/>
            </a:pPr>
            <a:r>
              <a:rPr lang="en-IN" sz="2200" dirty="0"/>
              <a:t>🌐</a:t>
            </a:r>
            <a:r>
              <a:rPr lang="en-US" sz="2200" b="1" i="0" u="sng" dirty="0">
                <a:solidFill>
                  <a:schemeClr val="tx1"/>
                </a:solidFill>
                <a:effectLst/>
                <a:latin typeface="ui-sans-serif"/>
              </a:rPr>
              <a:t>Distributed Systems &amp; Client-Server Architecture Resources</a:t>
            </a:r>
            <a:r>
              <a:rPr lang="en-IN" sz="2200" b="1" i="0" u="sng" dirty="0">
                <a:solidFill>
                  <a:schemeClr val="tx1"/>
                </a:solidFill>
                <a:effectLst/>
                <a:latin typeface="ui-sans-serif"/>
              </a:rPr>
              <a:t>: </a:t>
            </a:r>
            <a:r>
              <a:rPr lang="en-US" sz="2200" b="0" i="0" dirty="0">
                <a:solidFill>
                  <a:schemeClr val="tx1"/>
                </a:solidFill>
                <a:effectLst/>
                <a:latin typeface="ui-sans-serif"/>
              </a:rPr>
              <a:t>Used to understand real-time communication and service coordination patterns.</a:t>
            </a:r>
          </a:p>
          <a:p>
            <a:pPr algn="l">
              <a:buNone/>
            </a:pPr>
            <a:endParaRPr lang="en-IN" sz="2200" b="0" i="0" dirty="0">
              <a:solidFill>
                <a:schemeClr val="tx1"/>
              </a:solidFill>
              <a:effectLst/>
              <a:latin typeface="ui-sans-serif"/>
            </a:endParaRPr>
          </a:p>
          <a:p>
            <a:pPr algn="l">
              <a:buNone/>
            </a:pPr>
            <a:r>
              <a:rPr lang="en-IN" sz="2200" dirty="0"/>
              <a:t>⚙️</a:t>
            </a:r>
            <a:r>
              <a:rPr lang="en-US" sz="2200" b="1" i="0" u="sng" dirty="0">
                <a:solidFill>
                  <a:schemeClr val="tx1"/>
                </a:solidFill>
                <a:effectLst/>
                <a:latin typeface="ui-sans-serif"/>
              </a:rPr>
              <a:t>Official Documentation – React, Node.js, Flask, Socket.IO</a:t>
            </a:r>
            <a:r>
              <a:rPr lang="en-IN" sz="2200" b="0" i="0" u="sng" dirty="0">
                <a:solidFill>
                  <a:schemeClr val="tx1"/>
                </a:solidFill>
                <a:effectLst/>
                <a:latin typeface="ui-sans-serif"/>
              </a:rPr>
              <a:t>:</a:t>
            </a:r>
            <a:r>
              <a:rPr lang="en-IN" sz="2200" b="0" i="0" dirty="0">
                <a:solidFill>
                  <a:schemeClr val="tx1"/>
                </a:solidFill>
                <a:effectLst/>
                <a:latin typeface="ui-sans-serif"/>
              </a:rPr>
              <a:t> </a:t>
            </a:r>
            <a:r>
              <a:rPr lang="en-US" sz="2200" b="0" i="0" dirty="0">
                <a:solidFill>
                  <a:schemeClr val="tx1"/>
                </a:solidFill>
                <a:effectLst/>
                <a:latin typeface="ui-sans-serif"/>
              </a:rPr>
              <a:t>Technical references for implementing real-time web applications and APIs.</a:t>
            </a:r>
          </a:p>
          <a:p>
            <a:pPr algn="l">
              <a:buNone/>
            </a:pPr>
            <a:endParaRPr lang="en-US" sz="2200" b="0" i="0" dirty="0">
              <a:solidFill>
                <a:schemeClr val="tx1"/>
              </a:solidFill>
              <a:effectLst/>
              <a:latin typeface="ui-sans-serif"/>
            </a:endParaRPr>
          </a:p>
          <a:p>
            <a:pPr algn="l">
              <a:buNone/>
            </a:pPr>
            <a:r>
              <a:rPr lang="en-IN" sz="2200" b="0" i="0" dirty="0">
                <a:solidFill>
                  <a:schemeClr val="tx1"/>
                </a:solidFill>
                <a:effectLst/>
                <a:latin typeface="ui-sans-serif"/>
              </a:rPr>
              <a:t> </a:t>
            </a:r>
            <a:r>
              <a:rPr lang="en-IN" sz="2200" dirty="0"/>
              <a:t>📊</a:t>
            </a:r>
            <a:r>
              <a:rPr lang="en-US" sz="2200" b="1" i="0" u="sng" dirty="0">
                <a:solidFill>
                  <a:schemeClr val="tx1"/>
                </a:solidFill>
                <a:effectLst/>
                <a:latin typeface="ui-sans-serif"/>
              </a:rPr>
              <a:t>Modern System Design Case Studies (Real-Time Platforms)</a:t>
            </a:r>
            <a:r>
              <a:rPr lang="en-IN" sz="2200" b="0" i="0" u="sng" dirty="0">
                <a:solidFill>
                  <a:schemeClr val="tx1"/>
                </a:solidFill>
                <a:effectLst/>
                <a:latin typeface="ui-sans-serif"/>
              </a:rPr>
              <a:t>:</a:t>
            </a:r>
            <a:r>
              <a:rPr lang="en-US" sz="2200" b="0" i="0" dirty="0">
                <a:solidFill>
                  <a:schemeClr val="tx1"/>
                </a:solidFill>
                <a:effectLst/>
                <a:latin typeface="ui-sans-serif"/>
              </a:rPr>
              <a:t>Helped align the project with real-world architectures used in delivery and logistics systems.</a:t>
            </a:r>
          </a:p>
          <a:p>
            <a:pPr algn="l">
              <a:buNone/>
            </a:pPr>
            <a:endParaRPr lang="en-US" sz="2200" b="0" i="0" dirty="0">
              <a:solidFill>
                <a:schemeClr val="tx1"/>
              </a:solidFill>
              <a:effectLst/>
              <a:latin typeface="ui-sans-serif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14E4782-8F8B-7210-AC64-865D7CBCD858}"/>
              </a:ext>
            </a:extLst>
          </p:cNvPr>
          <p:cNvSpPr txBox="1"/>
          <p:nvPr/>
        </p:nvSpPr>
        <p:spPr>
          <a:xfrm>
            <a:off x="4953000" y="6042542"/>
            <a:ext cx="40386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u="sng" dirty="0">
                <a:highlight>
                  <a:srgbClr val="00FF00"/>
                </a:highlight>
              </a:rPr>
              <a:t>Thank You</a:t>
            </a:r>
            <a:endParaRPr lang="en-IN" sz="2800" b="1" u="sng" dirty="0">
              <a:highlight>
                <a:srgbClr val="00FF00"/>
              </a:highlight>
            </a:endParaRP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7AA7E628-7CA0-8D8F-59A0-E8CC8818337A}"/>
              </a:ext>
            </a:extLst>
          </p:cNvPr>
          <p:cNvSpPr/>
          <p:nvPr/>
        </p:nvSpPr>
        <p:spPr>
          <a:xfrm>
            <a:off x="4724400" y="6483034"/>
            <a:ext cx="2438400" cy="82728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830</TotalTime>
  <Words>751</Words>
  <Application>Microsoft Office PowerPoint</Application>
  <PresentationFormat>Widescreen</PresentationFormat>
  <Paragraphs>85</Paragraphs>
  <Slides>9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7" baseType="lpstr">
      <vt:lpstr>Arial</vt:lpstr>
      <vt:lpstr>Arial MT</vt:lpstr>
      <vt:lpstr>Calibri</vt:lpstr>
      <vt:lpstr>Georgia</vt:lpstr>
      <vt:lpstr>Roboto</vt:lpstr>
      <vt:lpstr>Times New Roman</vt:lpstr>
      <vt:lpstr>ui-sans-serif</vt:lpstr>
      <vt:lpstr>Office Theme</vt:lpstr>
      <vt:lpstr>PowerPoint Presentation</vt:lpstr>
      <vt:lpstr>Kernel Kitchen</vt:lpstr>
      <vt:lpstr>PowerPoint Presentation</vt:lpstr>
      <vt:lpstr>Technologies / Stack</vt:lpstr>
      <vt:lpstr>PowerPoint Presentation</vt:lpstr>
      <vt:lpstr>FEASIBILITY AND VIABILITY</vt:lpstr>
      <vt:lpstr>PowerPoint Presentation</vt:lpstr>
      <vt:lpstr>IMPACTS AND BENEFITS Potential Impacts on Target Audience</vt:lpstr>
      <vt:lpstr>RESEARCH AND REFERENCES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ADITYA PANDEY</cp:lastModifiedBy>
  <cp:revision>141</cp:revision>
  <dcterms:created xsi:type="dcterms:W3CDTF">2025-09-08T18:55:33Z</dcterms:created>
  <dcterms:modified xsi:type="dcterms:W3CDTF">2026-03-24T08:53:23Z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2025-09-09T00:00:00Z</vt:filetime>
  </property>
  <property fmtid="{D5CDD505-2E9C-101B-9397-08002B2CF9AE}" pid="3" name="Creator">
    <vt:lpwstr>Microsoft® PowerPoint® 2016</vt:lpwstr>
  </property>
  <property fmtid="{D5CDD505-2E9C-101B-9397-08002B2CF9AE}" pid="4" name="LastSaved">
    <vt:filetime>2025-09-08T00:00:00Z</vt:filetime>
  </property>
  <property fmtid="{D5CDD505-2E9C-101B-9397-08002B2CF9AE}" pid="5" name="Producer">
    <vt:lpwstr>www.ilovepdf.com</vt:lpwstr>
  </property>
</Properties>
</file>